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Relationship Id="rId12" Type="http://schemas.openxmlformats.org/officeDocument/2006/relationships/slide" Target="slide11.xml"/><Relationship Id="rId13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hyperlink" Target="https://luma-bot.com" TargetMode="External"/><Relationship Id="rId5" Type="http://schemas.openxmlformats.org/officeDocument/2006/relationships/hyperlink" Target="mailto:hello@luma-bot.com" TargetMode="External"/><Relationship Id="rId6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1051560"/>
            <a:ext cx="1883352" cy="1325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395728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 spc="800">
                <a:solidFill>
                  <a:srgbClr val="FFFFFF"/>
                </a:solidFill>
                <a:latin typeface="Sora"/>
              </a:rPr>
              <a:t>LUMA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07792"/>
            <a:ext cx="103601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ora"/>
              </a:rPr>
              <a:t>The AI teammate behind </a:t>
            </a:r>
            <a:r>
              <a:rPr sz="4000" b="1" i="0">
                <a:solidFill>
                  <a:srgbClr val="7AA8FF"/>
                </a:solidFill>
                <a:latin typeface="Sora"/>
              </a:rPr>
              <a:t>every DM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700" b="0" i="1">
                <a:solidFill>
                  <a:srgbClr val="B3CCFF"/>
                </a:solidFill>
                <a:latin typeface="Instrument Serif"/>
              </a:rPr>
              <a:t>— in the language they wrote to you 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47288" y="4526280"/>
            <a:ext cx="5303520" cy="457200"/>
          </a:xfrm>
          <a:prstGeom prst="roundRect">
            <a:avLst>
              <a:gd name="adj" fmla="val 50000"/>
            </a:avLst>
          </a:prstGeom>
          <a:solidFill>
            <a:srgbClr val="080330">
              <a:alpha val="55000"/>
            </a:srgbClr>
          </a:solidFill>
          <a:ln w="12700">
            <a:solidFill>
              <a:srgbClr val="4466FF">
                <a:alpha val="6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50" b="1" i="0" spc="160">
                <a:solidFill>
                  <a:srgbClr val="B3CCFF"/>
                </a:solidFill>
                <a:latin typeface="JetBrains Mono"/>
              </a:rPr>
              <a:t>BUSINESS PROPOSAL  ·  AI CUSTOMER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B3C2E0"/>
                </a:solidFill>
                <a:latin typeface="Open Sans"/>
              </a:rPr>
              <a:t>Prepared for forward-thinking local businesses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7AA8FF"/>
                </a:solidFill>
                <a:latin typeface="JetBrains Mono"/>
              </a:rPr>
              <a:t>luma-bot.com</a:t>
            </a:r>
          </a:p>
        </p:txBody>
      </p:sp>
      <p:sp>
        <p:nvSpPr>
          <p:cNvPr id="8" name="Rounded Rectangle 7">
            <a:hlinkClick r:id="rId4" action="ppaction://hlinksldjump"/>
          </p:cNvPr>
          <p:cNvSpPr/>
          <p:nvPr/>
        </p:nvSpPr>
        <p:spPr>
          <a:xfrm>
            <a:off x="4992624" y="594360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4466FF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Sora"/>
              </a:rPr>
              <a:t>Explore the proposal  →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"/>
            <a:ext cx="64943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0515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7AA8FF"/>
                </a:solidFill>
                <a:latin typeface="JetBrains Mono"/>
              </a:rPr>
              <a:t>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ora"/>
              </a:rPr>
              <a:t>What’s inside</a:t>
            </a:r>
          </a:p>
        </p:txBody>
      </p:sp>
      <p:sp>
        <p:nvSpPr>
          <p:cNvPr id="6" name="Rounded Rectangle 5">
            <a:hlinkClick r:id="rId4" action="ppaction://hlinksldjump"/>
          </p:cNvPr>
          <p:cNvSpPr/>
          <p:nvPr/>
        </p:nvSpPr>
        <p:spPr>
          <a:xfrm>
            <a:off x="731520" y="2331720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414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414016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The problem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DMs pile up, replies lag, sales slip away</a:t>
            </a:r>
          </a:p>
        </p:txBody>
      </p:sp>
      <p:sp>
        <p:nvSpPr>
          <p:cNvPr id="9" name="Rounded Rectangle 8">
            <a:hlinkClick r:id="rId5" action="ppaction://hlinksldjump"/>
          </p:cNvPr>
          <p:cNvSpPr/>
          <p:nvPr/>
        </p:nvSpPr>
        <p:spPr>
          <a:xfrm>
            <a:off x="731520" y="3118104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2278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004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Meet LUMA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Your always-on AI teammate</a:t>
            </a:r>
          </a:p>
        </p:txBody>
      </p:sp>
      <p:sp>
        <p:nvSpPr>
          <p:cNvPr id="12" name="Rounded Rectangle 11">
            <a:hlinkClick r:id="rId6" action="ppaction://hlinksldjump"/>
          </p:cNvPr>
          <p:cNvSpPr/>
          <p:nvPr/>
        </p:nvSpPr>
        <p:spPr>
          <a:xfrm>
            <a:off x="731520" y="3904488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01421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986784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How it works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Answer · Reply · Hand off</a:t>
            </a:r>
          </a:p>
        </p:txBody>
      </p:sp>
      <p:sp>
        <p:nvSpPr>
          <p:cNvPr id="15" name="Rounded Rectangle 14">
            <a:hlinkClick r:id="rId7" action="ppaction://hlinksldjump"/>
          </p:cNvPr>
          <p:cNvSpPr/>
          <p:nvPr/>
        </p:nvSpPr>
        <p:spPr>
          <a:xfrm>
            <a:off x="731520" y="4690872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8006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773168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Get started in 3 steps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Connect, teach, go live</a:t>
            </a:r>
          </a:p>
        </p:txBody>
      </p:sp>
      <p:sp>
        <p:nvSpPr>
          <p:cNvPr id="18" name="Rounded Rectangle 17">
            <a:hlinkClick r:id="rId8" action="ppaction://hlinksldjump"/>
          </p:cNvPr>
          <p:cNvSpPr/>
          <p:nvPr/>
        </p:nvSpPr>
        <p:spPr>
          <a:xfrm>
            <a:off x="731520" y="5477256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58698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559552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Feature set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Everything in one inbox</a:t>
            </a:r>
          </a:p>
        </p:txBody>
      </p:sp>
      <p:sp>
        <p:nvSpPr>
          <p:cNvPr id="21" name="Rounded Rectangle 20">
            <a:hlinkClick r:id="rId9" action="ppaction://hlinksldjump"/>
          </p:cNvPr>
          <p:cNvSpPr/>
          <p:nvPr/>
        </p:nvSpPr>
        <p:spPr>
          <a:xfrm>
            <a:off x="6355080" y="2331720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44144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414016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Why LUMA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Built for merchants, not generic bots</a:t>
            </a:r>
          </a:p>
        </p:txBody>
      </p:sp>
      <p:sp>
        <p:nvSpPr>
          <p:cNvPr id="24" name="Rounded Rectangle 23">
            <a:hlinkClick r:id="rId10" action="ppaction://hlinksldjump"/>
          </p:cNvPr>
          <p:cNvSpPr/>
          <p:nvPr/>
        </p:nvSpPr>
        <p:spPr>
          <a:xfrm>
            <a:off x="6355080" y="3118104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32278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2004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Proven performance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Speed, languages, uptime</a:t>
            </a:r>
          </a:p>
        </p:txBody>
      </p:sp>
      <p:sp>
        <p:nvSpPr>
          <p:cNvPr id="27" name="Rounded Rectangle 26">
            <a:hlinkClick r:id="rId11" action="ppaction://hlinksldjump"/>
          </p:cNvPr>
          <p:cNvSpPr/>
          <p:nvPr/>
        </p:nvSpPr>
        <p:spPr>
          <a:xfrm>
            <a:off x="6355080" y="3904488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401421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986784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Pricing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Plans that scale with you</a:t>
            </a:r>
          </a:p>
        </p:txBody>
      </p:sp>
      <p:sp>
        <p:nvSpPr>
          <p:cNvPr id="30" name="Rounded Rectangle 29">
            <a:hlinkClick r:id="rId12" action="ppaction://hlinksldjump"/>
          </p:cNvPr>
          <p:cNvSpPr/>
          <p:nvPr/>
        </p:nvSpPr>
        <p:spPr>
          <a:xfrm>
            <a:off x="6355080" y="4690872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48006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773168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Security &amp; trust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Your data, protected</a:t>
            </a:r>
          </a:p>
        </p:txBody>
      </p:sp>
      <p:sp>
        <p:nvSpPr>
          <p:cNvPr id="33" name="Rounded Rectangle 32">
            <a:hlinkClick r:id="rId13" action="ppaction://hlinksldjump"/>
          </p:cNvPr>
          <p:cNvSpPr/>
          <p:nvPr/>
        </p:nvSpPr>
        <p:spPr>
          <a:xfrm>
            <a:off x="6355080" y="5477256"/>
            <a:ext cx="5074920" cy="676656"/>
          </a:xfrm>
          <a:prstGeom prst="roundRect">
            <a:avLst>
              <a:gd name="adj" fmla="val 18000"/>
            </a:avLst>
          </a:prstGeom>
          <a:solidFill>
            <a:srgbClr val="080330">
              <a:alpha val="4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6248" y="558698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AA8FF"/>
                </a:solidFill>
                <a:latin typeface="JetBrains Mono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5559552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50" b="1" i="0">
                <a:solidFill>
                  <a:srgbClr val="FFFFFF"/>
                </a:solidFill>
                <a:latin typeface="Sora"/>
              </a:rPr>
              <a:t>Next steps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Start your free trial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400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A8FF"/>
                </a:solidFill>
                <a:latin typeface="JetBrains Mono"/>
              </a:rPr>
              <a:t>Tip: every card and button in this deck is clickable.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02 / 13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777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7AA8FF"/>
                </a:solidFill>
                <a:latin typeface="JetBrains Mono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Sora"/>
              </a:rPr>
              <a:t>Every silent DM is a </a:t>
            </a:r>
            <a:r>
              <a:rPr sz="4200" b="1" i="0">
                <a:solidFill>
                  <a:srgbClr val="7AA8FF"/>
                </a:solidFill>
                <a:latin typeface="Sora"/>
              </a:rPr>
              <a:t>sale walking out the door</a:t>
            </a:r>
            <a:r>
              <a:rPr sz="4200" b="1" i="0">
                <a:solidFill>
                  <a:srgbClr val="FFFFFF"/>
                </a:solidFill>
                <a:latin typeface="Sora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97480"/>
            <a:ext cx="5349240" cy="1627632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9525">
            <a:solidFill>
              <a:srgbClr val="4466FF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898648"/>
            <a:ext cx="1005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7AA8FF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953512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Replies come too late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B3C2E0"/>
                </a:solidFill>
                <a:latin typeface="Open Sans"/>
              </a:rPr>
              <a:t>Customers message at midnight and on weekends. By the time you reply, they’ve bought elsewhere.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697480"/>
            <a:ext cx="5349240" cy="1627632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9525">
            <a:solidFill>
              <a:srgbClr val="4466FF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898648"/>
            <a:ext cx="1005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7AA8FF"/>
                </a:solidFill>
                <a:latin typeface="JetBrains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953512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The same questions, endlessly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B3C2E0"/>
                </a:solidFill>
                <a:latin typeface="Open Sans"/>
              </a:rPr>
              <a:t>“Is this in stock?” “Where’s my order?” “Do you ship to me?” — answered by hand, all day long.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99432"/>
            <a:ext cx="5349240" cy="1627632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9525">
            <a:solidFill>
              <a:srgbClr val="4466FF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800600"/>
            <a:ext cx="1005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7AA8FF"/>
                </a:solidFill>
                <a:latin typeface="JetBrains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4855464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Customers write in three languages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B3C2E0"/>
                </a:solidFill>
                <a:latin typeface="Open Sans"/>
              </a:rPr>
              <a:t>Arabic, English and Franco-Arabic in the same inbox. Your team juggles tone and translation.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599432"/>
            <a:ext cx="5349240" cy="1627632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9525">
            <a:solidFill>
              <a:srgbClr val="4466FF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4800600"/>
            <a:ext cx="1005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7AA8FF"/>
                </a:solidFill>
                <a:latin typeface="JetBrains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855464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No view of what’s working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B3C2E0"/>
                </a:solidFill>
                <a:latin typeface="Open Sans"/>
              </a:rPr>
              <a:t>No idea how many messages turn into sales, what gets asked most, or when your busiest hours are.</a:t>
            </a:r>
          </a:p>
        </p:txBody>
      </p:sp>
      <p:sp>
        <p:nvSpPr>
          <p:cNvPr id="17" name="Rounded Rectangle 16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03 / 13</a:t>
            </a:r>
          </a:p>
        </p:txBody>
      </p:sp>
    </p:spTree>
  </p:cSld>
  <p:clrMapOvr>
    <a:masterClrMapping/>
  </p:clrMapOvr>
  <p:transition spd="med">
    <p:wipe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777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7AA8FF"/>
                </a:solidFill>
                <a:latin typeface="JetBrains Mono"/>
              </a:rPr>
              <a:t>02 · MEET LUMA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ora"/>
              </a:rPr>
              <a:t>An AI teammate that </a:t>
            </a:r>
            <a:r>
              <a:rPr sz="4000" b="1" i="0">
                <a:solidFill>
                  <a:srgbClr val="7AA8FF"/>
                </a:solidFill>
                <a:latin typeface="Sora"/>
              </a:rPr>
              <a:t>never sleeps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0" i="0">
                <a:solidFill>
                  <a:srgbClr val="FFFFFF"/>
                </a:solidFill>
                <a:latin typeface="Open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0" i="0">
                <a:solidFill>
                  <a:srgbClr val="B3C2E0"/>
                </a:solidFill>
                <a:latin typeface="Open Sans"/>
              </a:rPr>
              <a:t>LUMA reads every Instagram message and website chat, answers in the customer’s own language using your live product and order information, and passes the conversation to your team whenever a personal touch is needed.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3666744"/>
            <a:ext cx="146304" cy="146304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61188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Open Sans"/>
              </a:rPr>
              <a:t>Replies instantly, day and night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4233672"/>
            <a:ext cx="146304" cy="146304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7880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Open Sans"/>
              </a:rPr>
              <a:t>Speaks Egyptian Arabic, English and Franco-Arabic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800600"/>
            <a:ext cx="146304" cy="146304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745736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Open Sans"/>
              </a:rPr>
              <a:t>Answers order and product questions accurately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5367528"/>
            <a:ext cx="146304" cy="146304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312664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Open Sans"/>
              </a:rPr>
              <a:t>Works inside your store — no new app to learn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143000"/>
            <a:ext cx="3749039" cy="4663440"/>
          </a:xfrm>
          <a:prstGeom prst="roundRect">
            <a:avLst>
              <a:gd name="adj" fmla="val 6000"/>
            </a:avLst>
          </a:prstGeom>
          <a:solidFill>
            <a:srgbClr val="080330">
              <a:alpha val="82000"/>
            </a:srgbClr>
          </a:solidFill>
          <a:ln w="12700">
            <a:solidFill>
              <a:srgbClr val="4466FF">
                <a:alpha val="45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18120" y="114300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446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1307592"/>
            <a:ext cx="545523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1280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ora"/>
              </a:rPr>
              <a:t>LUMA</a:t>
            </a:r>
          </a:p>
        </p:txBody>
      </p:sp>
      <p:sp>
        <p:nvSpPr>
          <p:cNvPr id="17" name="Oval 16"/>
          <p:cNvSpPr/>
          <p:nvPr/>
        </p:nvSpPr>
        <p:spPr>
          <a:xfrm>
            <a:off x="8604504" y="1636776"/>
            <a:ext cx="77724" cy="7772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0808" y="15636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  <a:latin typeface="JetBrains Mono"/>
              </a:rPr>
              <a:t>Online now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2057400"/>
            <a:ext cx="2743200" cy="841248"/>
          </a:xfrm>
          <a:prstGeom prst="roundRect">
            <a:avLst>
              <a:gd name="adj" fmla="val 22000"/>
            </a:avLst>
          </a:prstGeom>
          <a:solidFill>
            <a:srgbClr val="020108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050" b="0" i="0">
                <a:solidFill>
                  <a:srgbClr val="FFFFFF"/>
                </a:solidFill>
                <a:latin typeface="Open Sans"/>
              </a:rPr>
              <a:t>هل في الجاكيت الأسود مقاس M؟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59" y="2990088"/>
            <a:ext cx="2743200" cy="841248"/>
          </a:xfrm>
          <a:prstGeom prst="roundRect">
            <a:avLst>
              <a:gd name="adj" fmla="val 22000"/>
            </a:avLst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050" b="0" i="0">
                <a:solidFill>
                  <a:srgbClr val="FFFFFF"/>
                </a:solidFill>
                <a:latin typeface="Open Sans"/>
              </a:rPr>
              <a:t>Yes! The black jacket is in stock in size M — EGP 1,250. Would you like me to reserve one?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3922776"/>
            <a:ext cx="2743200" cy="841248"/>
          </a:xfrm>
          <a:prstGeom prst="roundRect">
            <a:avLst>
              <a:gd name="adj" fmla="val 22000"/>
            </a:avLst>
          </a:prstGeom>
          <a:solidFill>
            <a:srgbClr val="020108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050" b="0" i="0">
                <a:solidFill>
                  <a:srgbClr val="FFFFFF"/>
                </a:solidFill>
                <a:latin typeface="Open Sans"/>
              </a:rPr>
              <a:t>Where’s my order #4521?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59" y="4855464"/>
            <a:ext cx="2743200" cy="841248"/>
          </a:xfrm>
          <a:prstGeom prst="roundRect">
            <a:avLst>
              <a:gd name="adj" fmla="val 22000"/>
            </a:avLst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050" b="0" i="0">
                <a:solidFill>
                  <a:srgbClr val="FFFFFF"/>
                </a:solidFill>
                <a:latin typeface="Open Sans"/>
              </a:rPr>
              <a:t>It’s out for delivery today and should arrive by 6 PM.</a:t>
            </a:r>
          </a:p>
        </p:txBody>
      </p:sp>
      <p:sp>
        <p:nvSpPr>
          <p:cNvPr id="23" name="Rounded Rectangle 22">
            <a:hlinkClick r:id="rId4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04 / 13</a:t>
            </a:r>
          </a:p>
        </p:txBody>
      </p:sp>
    </p:spTree>
  </p:cSld>
  <p:clrMapOvr>
    <a:masterClrMapping/>
  </p:clrMapOvr>
  <p:transition spd="med">
    <p:cover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7AA8FF"/>
                </a:solidFill>
                <a:latin typeface="JetBrains Mono"/>
              </a:rPr>
              <a:t>03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ora"/>
              </a:rPr>
              <a:t>Three ways LUMA handles every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3C2E0"/>
                </a:solidFill>
                <a:latin typeface="Open Sans"/>
              </a:rPr>
              <a:t>Every message is handled the right way — keeping replies instant and your customers looked after.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611880" cy="3703320"/>
          </a:xfrm>
          <a:prstGeom prst="roundRect">
            <a:avLst>
              <a:gd name="adj" fmla="val 7000"/>
            </a:avLst>
          </a:prstGeom>
          <a:solidFill>
            <a:srgbClr val="080330">
              <a:alpha val="55000"/>
            </a:srgbClr>
          </a:solidFill>
          <a:ln w="11430">
            <a:solidFill>
              <a:srgbClr val="4466FF">
                <a:alpha val="50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560320"/>
            <a:ext cx="777240" cy="777240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3000" b="1" i="0">
                <a:solidFill>
                  <a:srgbClr val="FFFFFF"/>
                </a:solidFill>
                <a:latin typeface="Sor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Sora"/>
              </a:rPr>
              <a:t>Instant answer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3C2E0"/>
                </a:solidFill>
                <a:latin typeface="Open Sans"/>
              </a:rPr>
              <a:t>Greetings, thank-yous and repeat questions are recognised and answered straight away.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4983480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“Hi there”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532180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“شكراً”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5660136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“Where’s order #4521?”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0288" y="2286000"/>
            <a:ext cx="3611880" cy="3703320"/>
          </a:xfrm>
          <a:prstGeom prst="roundRect">
            <a:avLst>
              <a:gd name="adj" fmla="val 7000"/>
            </a:avLst>
          </a:prstGeom>
          <a:solidFill>
            <a:srgbClr val="080330">
              <a:alpha val="55000"/>
            </a:srgbClr>
          </a:solidFill>
          <a:ln w="11430">
            <a:solidFill>
              <a:srgbClr val="4466FF">
                <a:alpha val="50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4608" y="2560320"/>
            <a:ext cx="777240" cy="777240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3000" b="1" i="0">
                <a:solidFill>
                  <a:srgbClr val="FFFFFF"/>
                </a:solidFill>
                <a:latin typeface="Sor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3566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Sora"/>
              </a:rPr>
              <a:t>Smart reply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3C2E0"/>
                </a:solidFill>
                <a:latin typeface="Open Sans"/>
              </a:rPr>
              <a:t>Real product questions are answered from your live catalogue, in the customer’s own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64608" y="4983480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“Is the black jacket in M?”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64608" y="532180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“Do you ship to Alexandria?”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4608" y="5660136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“What’s the return policy?”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49056" y="2286000"/>
            <a:ext cx="3611880" cy="3703320"/>
          </a:xfrm>
          <a:prstGeom prst="roundRect">
            <a:avLst>
              <a:gd name="adj" fmla="val 7000"/>
            </a:avLst>
          </a:prstGeom>
          <a:solidFill>
            <a:srgbClr val="080330">
              <a:alpha val="55000"/>
            </a:srgbClr>
          </a:solidFill>
          <a:ln w="11430">
            <a:solidFill>
              <a:srgbClr val="4466FF">
                <a:alpha val="50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23376" y="2560320"/>
            <a:ext cx="777240" cy="777240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3000" b="1" i="0">
                <a:solidFill>
                  <a:srgbClr val="FFFFFF"/>
                </a:solidFill>
                <a:latin typeface="Sor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3376" y="3566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Sora"/>
              </a:rPr>
              <a:t>Personal handoff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3C2E0"/>
                </a:solidFill>
                <a:latin typeface="Open Sans"/>
              </a:rPr>
              <a:t>Complaints or anything unusual? LUMA reassures the customer and passes it straight to your team.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23376" y="4983480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“I’d like to speak to someone”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3376" y="532180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“This ripped after one wear”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23376" y="5660136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020108">
              <a:alpha val="60000"/>
            </a:srgbClr>
          </a:solidFill>
          <a:ln w="6350">
            <a:solidFill>
              <a:srgbClr val="4466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950" b="0" i="0">
                <a:solidFill>
                  <a:srgbClr val="B3CCFF"/>
                </a:solidFill>
                <a:latin typeface="JetBrains Mono"/>
              </a:rPr>
              <a:t>“I’m not happy”</a:t>
            </a:r>
          </a:p>
        </p:txBody>
      </p:sp>
      <p:sp>
        <p:nvSpPr>
          <p:cNvPr id="24" name="Rounded Rectangle 23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05 / 13</a:t>
            </a:r>
          </a:p>
        </p:txBody>
      </p:sp>
    </p:spTree>
  </p:cSld>
  <p:clrMapOvr>
    <a:masterClrMapping/>
  </p:clrMapOvr>
  <p:transition spd="med">
    <p:split orient="vert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777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4466FF"/>
                </a:solidFill>
                <a:latin typeface="JetBrains Mono"/>
              </a:rPr>
              <a:t>04 ·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0A0A2E"/>
                </a:solidFill>
                <a:latin typeface="Sora"/>
              </a:rPr>
              <a:t>Live in an afternoon — </a:t>
            </a:r>
            <a:r>
              <a:rPr sz="3800" b="1" i="0">
                <a:solidFill>
                  <a:srgbClr val="4466FF"/>
                </a:solidFill>
                <a:latin typeface="Sora"/>
              </a:rPr>
              <a:t>no setup headaches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352044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466FF">
                <a:alpha val="20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3108960"/>
            <a:ext cx="914400" cy="914400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3400" b="1" i="0">
                <a:solidFill>
                  <a:srgbClr val="FFFFFF"/>
                </a:solidFill>
                <a:latin typeface="Sor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25196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0A0A2E"/>
                </a:solidFill>
                <a:latin typeface="Sora"/>
              </a:rPr>
              <a:t>Connect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56080"/>
                </a:solidFill>
                <a:latin typeface="Open Sans"/>
              </a:rPr>
              <a:t>Link your store and Instagram account in a few clicks. Your products load in automatically.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37947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7AA8FF"/>
                </a:solidFill>
                <a:latin typeface="Sor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743200"/>
            <a:ext cx="352044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466FF">
                <a:alpha val="20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0" y="3108960"/>
            <a:ext cx="914400" cy="914400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3400" b="1" i="0">
                <a:solidFill>
                  <a:srgbClr val="FFFFFF"/>
                </a:solidFill>
                <a:latin typeface="Sor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425196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0A0A2E"/>
                </a:solidFill>
                <a:latin typeface="Sora"/>
              </a:rPr>
              <a:t>Personalise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56080"/>
                </a:solidFill>
                <a:latin typeface="Open Sans"/>
              </a:rPr>
              <a:t>Set the tone, your opening hours and a few product details so LUMA sounds just like your brand.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7947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7AA8FF"/>
                </a:solidFill>
                <a:latin typeface="Sor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743200"/>
            <a:ext cx="352044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466FF">
                <a:alpha val="20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23960" y="3108960"/>
            <a:ext cx="914400" cy="914400"/>
          </a:xfrm>
          <a:prstGeom prst="ellipse">
            <a:avLst/>
          </a:prstGeom>
          <a:solidFill>
            <a:srgbClr val="4466FF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3400" b="1" i="0">
                <a:solidFill>
                  <a:srgbClr val="FFFFFF"/>
                </a:solidFill>
                <a:latin typeface="Sor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425196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0A0A2E"/>
                </a:solidFill>
                <a:latin typeface="Sora"/>
              </a:rPr>
              <a:t>Go live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56080"/>
                </a:solidFill>
                <a:latin typeface="Open Sans"/>
              </a:rPr>
              <a:t>Watch conversations as they happen and step into any chat yourself whenever you’d like.</a:t>
            </a:r>
          </a:p>
        </p:txBody>
      </p:sp>
      <p:sp>
        <p:nvSpPr>
          <p:cNvPr id="16" name="Rounded Rectangle 15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6080"/>
                </a:solidFill>
                <a:latin typeface="JetBrains Mono"/>
              </a:rPr>
              <a:t>06 / 13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7AA8FF"/>
                </a:solidFill>
                <a:latin typeface="JetBrains Mono"/>
              </a:rPr>
              <a:t>05 · FEATURE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ora"/>
              </a:rPr>
              <a:t>Everything your inbox needs, in one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07568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8658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One inbox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Instagram and website chats together in one place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4568" y="178308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18888" y="207568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38658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Three languages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Speaks Arabic, English and Franco-Arabic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57616" y="178308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31936" y="207568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238658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Order tracking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Tells customers exactly where their order 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7472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376732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07822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Instant answers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Common questions answered in a moment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44568" y="347472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18888" y="376732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07822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Smart handoff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Knows when to bring in your team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57616" y="347472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31936" y="376732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3648" y="407822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Simple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See your busiest hours and top questions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16636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5840" y="545896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576986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Product knowledge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Shares accurate details about your products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44568" y="516636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18888" y="545896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576986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After-hours replies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Keeps answering when you’re closed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5166360"/>
            <a:ext cx="3520440" cy="1417320"/>
          </a:xfrm>
          <a:prstGeom prst="roundRect">
            <a:avLst>
              <a:gd name="adj" fmla="val 10000"/>
            </a:avLst>
          </a:prstGeom>
          <a:solidFill>
            <a:srgbClr val="080330">
              <a:alpha val="50000"/>
            </a:srgbClr>
          </a:solidFill>
          <a:ln w="7620">
            <a:solidFill>
              <a:srgbClr val="4466FF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31936" y="5458968"/>
            <a:ext cx="146304" cy="146304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13648" y="5769864"/>
            <a:ext cx="3008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Sora"/>
              </a:rPr>
              <a:t>Customer feedback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B3C2E0"/>
                </a:solidFill>
                <a:latin typeface="Open Sans"/>
              </a:rPr>
              <a:t>Asks each customer if the answer helped</a:t>
            </a:r>
          </a:p>
        </p:txBody>
      </p:sp>
      <p:sp>
        <p:nvSpPr>
          <p:cNvPr id="32" name="Rounded Rectangle 31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07 / 13</a:t>
            </a:r>
          </a:p>
        </p:txBody>
      </p:sp>
    </p:spTree>
  </p:cSld>
  <p:clrMapOvr>
    <a:masterClrMapping/>
  </p:clrMapOvr>
  <p:transition spd="med">
    <p:zoom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777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7AA8FF"/>
                </a:solidFill>
                <a:latin typeface="JetBrains Mono"/>
              </a:rPr>
              <a:t>06 · WHY LUMA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Sora"/>
              </a:rPr>
              <a:t>Not a generic chatbot. </a:t>
            </a:r>
            <a:r>
              <a:rPr sz="3800" b="1" i="0">
                <a:solidFill>
                  <a:srgbClr val="7AA8FF"/>
                </a:solidFill>
                <a:latin typeface="Sora"/>
              </a:rPr>
              <a:t>A real teammate.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 i="0">
                <a:solidFill>
                  <a:srgbClr val="B3C2E0"/>
                </a:solidFill>
                <a:latin typeface="Open Sans"/>
              </a:rPr>
              <a:t>Built from the ground up for merchants who know that fast answers drive sales.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97480"/>
            <a:ext cx="5349240" cy="548640"/>
          </a:xfrm>
          <a:prstGeom prst="roundRect">
            <a:avLst>
              <a:gd name="adj" fmla="val 18000"/>
            </a:avLst>
          </a:prstGeom>
          <a:solidFill>
            <a:srgbClr val="02010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300" b="1" i="0" spc="200">
                <a:solidFill>
                  <a:srgbClr val="B3C2E0"/>
                </a:solidFill>
                <a:latin typeface="JetBrains Mono"/>
              </a:rPr>
              <a:t>GENERIC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2697480"/>
            <a:ext cx="5074920" cy="548640"/>
          </a:xfrm>
          <a:prstGeom prst="roundRect">
            <a:avLst>
              <a:gd name="adj" fmla="val 18000"/>
            </a:avLst>
          </a:prstGeom>
          <a:solidFill>
            <a:srgbClr val="4466FF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300" b="1" i="0" spc="200">
                <a:solidFill>
                  <a:srgbClr val="FFFFFF"/>
                </a:solidFill>
                <a:latin typeface="JetBrains Mono"/>
              </a:rPr>
              <a:t>LUMA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10712"/>
            <a:ext cx="534924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45000"/>
            </a:srgbClr>
          </a:solidFill>
          <a:ln w="5080">
            <a:solidFill>
              <a:srgbClr val="B3C2E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FF7A7A"/>
                </a:solidFill>
                <a:latin typeface="Open Sans"/>
              </a:rPr>
              <a:t>✕  </a:t>
            </a:r>
            <a:r>
              <a:rPr sz="1250" b="0" i="0">
                <a:solidFill>
                  <a:srgbClr val="B3C2E0"/>
                </a:solidFill>
                <a:latin typeface="Open Sans"/>
              </a:rPr>
              <a:t>Translates word-for-word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3410712"/>
            <a:ext cx="507492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70000"/>
            </a:srgbClr>
          </a:solidFill>
          <a:ln w="10160">
            <a:solidFill>
              <a:srgbClr val="4466FF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22C55E"/>
                </a:solidFill>
                <a:latin typeface="Open Sans"/>
              </a:rPr>
              <a:t>✓  </a:t>
            </a:r>
            <a:r>
              <a:rPr sz="1250" b="1" i="0">
                <a:solidFill>
                  <a:srgbClr val="FFFFFF"/>
                </a:solidFill>
                <a:latin typeface="Open Sans"/>
              </a:rPr>
              <a:t>Speaks Arabic and Franco-Arabic naturally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50792"/>
            <a:ext cx="534924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45000"/>
            </a:srgbClr>
          </a:solidFill>
          <a:ln w="5080">
            <a:solidFill>
              <a:srgbClr val="B3C2E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FF7A7A"/>
                </a:solidFill>
                <a:latin typeface="Open Sans"/>
              </a:rPr>
              <a:t>✕  </a:t>
            </a:r>
            <a:r>
              <a:rPr sz="1250" b="0" i="0">
                <a:solidFill>
                  <a:srgbClr val="B3C2E0"/>
                </a:solidFill>
                <a:latin typeface="Open Sans"/>
              </a:rPr>
              <a:t>Guesses order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4050792"/>
            <a:ext cx="507492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70000"/>
            </a:srgbClr>
          </a:solidFill>
          <a:ln w="10160">
            <a:solidFill>
              <a:srgbClr val="4466FF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22C55E"/>
                </a:solidFill>
                <a:latin typeface="Open Sans"/>
              </a:rPr>
              <a:t>✓  </a:t>
            </a:r>
            <a:r>
              <a:rPr sz="1250" b="1" i="0">
                <a:solidFill>
                  <a:srgbClr val="FFFFFF"/>
                </a:solidFill>
                <a:latin typeface="Open Sans"/>
              </a:rPr>
              <a:t>Gives accurate, up-to-date order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90872"/>
            <a:ext cx="534924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45000"/>
            </a:srgbClr>
          </a:solidFill>
          <a:ln w="5080">
            <a:solidFill>
              <a:srgbClr val="B3C2E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FF7A7A"/>
                </a:solidFill>
                <a:latin typeface="Open Sans"/>
              </a:rPr>
              <a:t>✕  </a:t>
            </a:r>
            <a:r>
              <a:rPr sz="1250" b="0" i="0">
                <a:solidFill>
                  <a:srgbClr val="B3C2E0"/>
                </a:solidFill>
                <a:latin typeface="Open Sans"/>
              </a:rPr>
              <a:t>Yet another app to open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690872"/>
            <a:ext cx="507492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70000"/>
            </a:srgbClr>
          </a:solidFill>
          <a:ln w="10160">
            <a:solidFill>
              <a:srgbClr val="4466FF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22C55E"/>
                </a:solidFill>
                <a:latin typeface="Open Sans"/>
              </a:rPr>
              <a:t>✓  </a:t>
            </a:r>
            <a:r>
              <a:rPr sz="1250" b="1" i="0">
                <a:solidFill>
                  <a:srgbClr val="FFFFFF"/>
                </a:solidFill>
                <a:latin typeface="Open Sans"/>
              </a:rPr>
              <a:t>Works right inside your store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30952"/>
            <a:ext cx="534924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45000"/>
            </a:srgbClr>
          </a:solidFill>
          <a:ln w="5080">
            <a:solidFill>
              <a:srgbClr val="B3C2E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FF7A7A"/>
                </a:solidFill>
                <a:latin typeface="Open Sans"/>
              </a:rPr>
              <a:t>✕  </a:t>
            </a:r>
            <a:r>
              <a:rPr sz="1250" b="0" i="0">
                <a:solidFill>
                  <a:srgbClr val="B3C2E0"/>
                </a:solidFill>
                <a:latin typeface="Open Sans"/>
              </a:rPr>
              <a:t>Replies sound robotic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5330952"/>
            <a:ext cx="507492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70000"/>
            </a:srgbClr>
          </a:solidFill>
          <a:ln w="10160">
            <a:solidFill>
              <a:srgbClr val="4466FF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22C55E"/>
                </a:solidFill>
                <a:latin typeface="Open Sans"/>
              </a:rPr>
              <a:t>✓  </a:t>
            </a:r>
            <a:r>
              <a:rPr sz="1250" b="1" i="0">
                <a:solidFill>
                  <a:srgbClr val="FFFFFF"/>
                </a:solidFill>
                <a:latin typeface="Open Sans"/>
              </a:rPr>
              <a:t>Sounds like your 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71032"/>
            <a:ext cx="534924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45000"/>
            </a:srgbClr>
          </a:solidFill>
          <a:ln w="5080">
            <a:solidFill>
              <a:srgbClr val="B3C2E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FF7A7A"/>
                </a:solidFill>
                <a:latin typeface="Open Sans"/>
              </a:rPr>
              <a:t>✕  </a:t>
            </a:r>
            <a:r>
              <a:rPr sz="1250" b="0" i="0">
                <a:solidFill>
                  <a:srgbClr val="B3C2E0"/>
                </a:solidFill>
                <a:latin typeface="Open Sans"/>
              </a:rPr>
              <a:t>Gets stuck when confused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5971032"/>
            <a:ext cx="5074920" cy="548640"/>
          </a:xfrm>
          <a:prstGeom prst="roundRect">
            <a:avLst>
              <a:gd name="adj" fmla="val 14000"/>
            </a:avLst>
          </a:prstGeom>
          <a:solidFill>
            <a:srgbClr val="080330">
              <a:alpha val="70000"/>
            </a:srgbClr>
          </a:solidFill>
          <a:ln w="10160">
            <a:solidFill>
              <a:srgbClr val="4466FF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200" b="1" i="0">
                <a:solidFill>
                  <a:srgbClr val="22C55E"/>
                </a:solidFill>
                <a:latin typeface="Open Sans"/>
              </a:rPr>
              <a:t>✓  </a:t>
            </a:r>
            <a:r>
              <a:rPr sz="1250" b="1" i="0">
                <a:solidFill>
                  <a:srgbClr val="FFFFFF"/>
                </a:solidFill>
                <a:latin typeface="Open Sans"/>
              </a:rPr>
              <a:t>Hands off to your team smoothly</a:t>
            </a:r>
          </a:p>
        </p:txBody>
      </p:sp>
      <p:sp>
        <p:nvSpPr>
          <p:cNvPr id="17" name="Rounded Rectangle 16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08 / 13</a:t>
            </a:r>
          </a:p>
        </p:txBody>
      </p:sp>
    </p:spTree>
  </p:cSld>
  <p:clrMapOvr>
    <a:masterClrMapping/>
  </p:clrMapOvr>
  <p:transition spd="med">
    <p:wipe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B3CCFF"/>
                </a:solidFill>
                <a:latin typeface="JetBrains Mono"/>
              </a:rPr>
              <a:t>07 · PROVEN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ora"/>
              </a:rPr>
              <a:t>Numbers that turn conversations into </a:t>
            </a:r>
            <a:r>
              <a:rPr sz="3400" b="1" i="0">
                <a:solidFill>
                  <a:srgbClr val="7AA8FF"/>
                </a:solidFill>
                <a:latin typeface="Sora"/>
              </a:rPr>
              <a:t>revenue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606040" cy="2743200"/>
          </a:xfrm>
          <a:prstGeom prst="roundRect">
            <a:avLst>
              <a:gd name="adj" fmla="val 8000"/>
            </a:avLst>
          </a:prstGeom>
          <a:solidFill>
            <a:srgbClr val="080330">
              <a:alpha val="70000"/>
            </a:srgbClr>
          </a:solidFill>
          <a:ln w="12700">
            <a:solidFill>
              <a:srgbClr val="4466FF">
                <a:alpha val="55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7AA8FF"/>
                </a:solidFill>
                <a:latin typeface="Sora"/>
              </a:rPr>
              <a:t>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3434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ora"/>
              </a:rPr>
              <a:t>Reply time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B3C2E0"/>
                </a:solidFill>
                <a:latin typeface="Open Sans"/>
              </a:rPr>
              <a:t>Customers get an answer almost the moment they 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2743200"/>
            <a:ext cx="2606040" cy="2743200"/>
          </a:xfrm>
          <a:prstGeom prst="roundRect">
            <a:avLst>
              <a:gd name="adj" fmla="val 8000"/>
            </a:avLst>
          </a:prstGeom>
          <a:solidFill>
            <a:srgbClr val="080330">
              <a:alpha val="70000"/>
            </a:srgbClr>
          </a:solidFill>
          <a:ln w="12700">
            <a:solidFill>
              <a:srgbClr val="4466FF">
                <a:alpha val="55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3154680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7AA8FF"/>
                </a:solidFill>
                <a:latin typeface="Sor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3434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ora"/>
              </a:rPr>
              <a:t>Languages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B3C2E0"/>
                </a:solidFill>
                <a:latin typeface="Open Sans"/>
              </a:rPr>
              <a:t>Arabic, English and Franco-Arabic, understood automatically.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43200"/>
            <a:ext cx="2606040" cy="2743200"/>
          </a:xfrm>
          <a:prstGeom prst="roundRect">
            <a:avLst>
              <a:gd name="adj" fmla="val 8000"/>
            </a:avLst>
          </a:prstGeom>
          <a:solidFill>
            <a:srgbClr val="080330">
              <a:alpha val="70000"/>
            </a:srgbClr>
          </a:solidFill>
          <a:ln w="12700">
            <a:solidFill>
              <a:srgbClr val="4466FF">
                <a:alpha val="55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7AA8FF"/>
                </a:solidFill>
                <a:latin typeface="Sora"/>
              </a:rPr>
              <a:t>24/7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3434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ora"/>
              </a:rPr>
              <a:t>Always on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B3C2E0"/>
                </a:solidFill>
                <a:latin typeface="Open Sans"/>
              </a:rPr>
              <a:t>Never sleeps — your customers always hear 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72600" y="2743200"/>
            <a:ext cx="2606040" cy="2743200"/>
          </a:xfrm>
          <a:prstGeom prst="roundRect">
            <a:avLst>
              <a:gd name="adj" fmla="val 8000"/>
            </a:avLst>
          </a:prstGeom>
          <a:solidFill>
            <a:srgbClr val="080330">
              <a:alpha val="70000"/>
            </a:srgbClr>
          </a:solidFill>
          <a:ln w="12700">
            <a:solidFill>
              <a:srgbClr val="4466FF">
                <a:alpha val="55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3154680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7AA8FF"/>
                </a:solidFill>
                <a:latin typeface="Sor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34340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ora"/>
              </a:rPr>
              <a:t>Channels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B3C2E0"/>
                </a:solidFill>
                <a:latin typeface="Open Sans"/>
              </a:rPr>
              <a:t>Instagram and website chat today, WhatsApp soon.</a:t>
            </a:r>
          </a:p>
        </p:txBody>
      </p:sp>
      <p:sp>
        <p:nvSpPr>
          <p:cNvPr id="17" name="Rounded Rectangle 16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09 / 13</a:t>
            </a:r>
          </a:p>
        </p:txBody>
      </p:sp>
    </p:spTree>
  </p:cSld>
  <p:clrMapOvr>
    <a:masterClrMapping/>
  </p:clrMapOvr>
  <p:transition spd="med">
    <p:cover dir="u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4466FF"/>
                </a:solidFill>
                <a:latin typeface="JetBrains Mono"/>
              </a:rPr>
              <a:t>08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A0A2E"/>
                </a:solidFill>
                <a:latin typeface="Sora"/>
              </a:rPr>
              <a:t>Plans that scale with your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2763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6080"/>
                </a:solidFill>
                <a:latin typeface="Open Sans"/>
              </a:rPr>
              <a:t>Billed through Shopify · 7-day free trial on paid plans · card never touches LUMA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31720"/>
            <a:ext cx="2670048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4466FF">
                <a:alpha val="18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A0A2E"/>
                </a:solidFill>
                <a:latin typeface="Sora"/>
              </a:rPr>
              <a:t>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90088"/>
            <a:ext cx="2121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0A0A2E"/>
                </a:solidFill>
                <a:latin typeface="Sora"/>
              </a:rPr>
              <a:t>$0</a:t>
            </a:r>
            <a:r>
              <a:rPr sz="1400" b="0" i="0">
                <a:solidFill>
                  <a:srgbClr val="556080"/>
                </a:solidFill>
                <a:latin typeface="Open Sans"/>
              </a:rPr>
              <a:t>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03320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56080"/>
                </a:solidFill>
                <a:latin typeface="JetBrains Mono"/>
              </a:rPr>
              <a:t>20 chats /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60520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Instagram + Shopify 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544568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Order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928616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Smart pre-filtering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312664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20 knowledge entries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2194560"/>
            <a:ext cx="2670048" cy="4160520"/>
          </a:xfrm>
          <a:prstGeom prst="roundRect">
            <a:avLst>
              <a:gd name="adj" fmla="val 6000"/>
            </a:avLst>
          </a:prstGeom>
          <a:solidFill>
            <a:srgbClr val="4466FF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70248" y="194767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0A0A2E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900" b="1" i="0" spc="150">
                <a:solidFill>
                  <a:srgbClr val="B3CCFF"/>
                </a:solidFill>
                <a:latin typeface="JetBrains Mono"/>
              </a:rPr>
              <a:t>POPULAR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267004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ora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3099816"/>
            <a:ext cx="2121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ora"/>
              </a:rPr>
              <a:t>$29</a:t>
            </a:r>
            <a:r>
              <a:rPr sz="1400" b="0" i="0">
                <a:solidFill>
                  <a:srgbClr val="B3CCFF"/>
                </a:solidFill>
                <a:latin typeface="Open Sans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3813048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3CCFF"/>
                </a:solidFill>
                <a:latin typeface="JetBrains Mono"/>
              </a:rPr>
              <a:t>200 chats / 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7328" y="4270248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3CC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FFFFFF"/>
                </a:solidFill>
                <a:latin typeface="Open Sans"/>
              </a:rPr>
              <a:t>Everything in 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4654296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3CC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FFFFFF"/>
                </a:solidFill>
                <a:latin typeface="Open Sans"/>
              </a:rPr>
              <a:t>Custom auto-reply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5038344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3CC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FFFFFF"/>
                </a:solidFill>
                <a:latin typeface="Open Sans"/>
              </a:rPr>
              <a:t>100 knowledge entries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5422392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3CC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FFFFFF"/>
                </a:solidFill>
                <a:latin typeface="Open Sans"/>
              </a:rPr>
              <a:t>Advanced analytics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2331720"/>
            <a:ext cx="2670048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4466FF">
                <a:alpha val="18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256032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A0A2E"/>
                </a:solidFill>
                <a:latin typeface="Sora"/>
              </a:rPr>
              <a:t>Growth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2990088"/>
            <a:ext cx="2121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0A0A2E"/>
                </a:solidFill>
                <a:latin typeface="Sora"/>
              </a:rPr>
              <a:t>$79</a:t>
            </a:r>
            <a:r>
              <a:rPr sz="1400" b="0" i="0">
                <a:solidFill>
                  <a:srgbClr val="556080"/>
                </a:solidFill>
                <a:latin typeface="Open Sans"/>
              </a:rPr>
              <a:t>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3703320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56080"/>
                </a:solidFill>
                <a:latin typeface="JetBrains Mono"/>
              </a:rPr>
              <a:t>600 chats /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160520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Everything in Starter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4544568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Unlimited knowledge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4928616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Priority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5312664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Custom bot personality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62288" y="2331720"/>
            <a:ext cx="2670048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4466FF">
                <a:alpha val="18000"/>
              </a:srgbClr>
            </a:solidFill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8" y="256032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A0A2E"/>
                </a:solidFill>
                <a:latin typeface="Sora"/>
              </a:rPr>
              <a:t>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2990088"/>
            <a:ext cx="2121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0A0A2E"/>
                </a:solidFill>
                <a:latin typeface="Sora"/>
              </a:rPr>
              <a:t>$149</a:t>
            </a:r>
            <a:r>
              <a:rPr sz="1400" b="0" i="0">
                <a:solidFill>
                  <a:srgbClr val="556080"/>
                </a:solidFill>
                <a:latin typeface="Open Sans"/>
              </a:rPr>
              <a:t>/mo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36608" y="3703320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56080"/>
                </a:solidFill>
                <a:latin typeface="JetBrains Mono"/>
              </a:rPr>
              <a:t>1,500 chats / day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36608" y="4160520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Everything in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36608" y="4544568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Hands-on onboarding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36608" y="4928616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Direct Slack support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6608" y="5312664"/>
            <a:ext cx="2167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66FF"/>
                </a:solidFill>
                <a:latin typeface="Open Sans"/>
              </a:rPr>
              <a:t>✓  </a:t>
            </a:r>
            <a:r>
              <a:rPr sz="1100" b="0" i="0">
                <a:solidFill>
                  <a:srgbClr val="556080"/>
                </a:solidFill>
                <a:latin typeface="Open Sans"/>
              </a:rPr>
              <a:t>Early access features</a:t>
            </a:r>
          </a:p>
        </p:txBody>
      </p:sp>
      <p:sp>
        <p:nvSpPr>
          <p:cNvPr id="39" name="Rounded Rectangle 38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6080"/>
                </a:solidFill>
                <a:latin typeface="JetBrains Mono"/>
              </a:rPr>
              <a:t>10 / 13</a:t>
            </a:r>
          </a:p>
        </p:txBody>
      </p:sp>
    </p:spTree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7AA8FF"/>
                </a:solidFill>
                <a:latin typeface="JetBrains Mono"/>
              </a:rPr>
              <a:t>09 · SECURITY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ora"/>
              </a:rPr>
              <a:t>Your data is </a:t>
            </a:r>
            <a:r>
              <a:rPr sz="3800" b="1" i="0">
                <a:solidFill>
                  <a:srgbClr val="7AA8FF"/>
                </a:solidFill>
                <a:latin typeface="Sora"/>
              </a:rPr>
              <a:t>protected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5349240" cy="1691640"/>
          </a:xfrm>
          <a:prstGeom prst="roundRect">
            <a:avLst>
              <a:gd name="adj" fmla="val 9000"/>
            </a:avLst>
          </a:prstGeom>
          <a:solidFill>
            <a:srgbClr val="080330">
              <a:alpha val="5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990088"/>
            <a:ext cx="182880" cy="182880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898648"/>
            <a:ext cx="4160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Your data stays yours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 i="0">
                <a:solidFill>
                  <a:srgbClr val="B3C2E0"/>
                </a:solidFill>
                <a:latin typeface="Open Sans"/>
              </a:rPr>
              <a:t>Every store’s information is kept completely separate and private.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606040"/>
            <a:ext cx="5349240" cy="1691640"/>
          </a:xfrm>
          <a:prstGeom prst="roundRect">
            <a:avLst>
              <a:gd name="adj" fmla="val 9000"/>
            </a:avLst>
          </a:prstGeom>
          <a:solidFill>
            <a:srgbClr val="080330">
              <a:alpha val="5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2990088"/>
            <a:ext cx="182880" cy="182880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898648"/>
            <a:ext cx="4160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Safe and secure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 i="0">
                <a:solidFill>
                  <a:srgbClr val="B3C2E0"/>
                </a:solidFill>
                <a:latin typeface="Open Sans"/>
              </a:rPr>
              <a:t>Conversations are protected and access is tightly controlled.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5349240" cy="1691640"/>
          </a:xfrm>
          <a:prstGeom prst="roundRect">
            <a:avLst>
              <a:gd name="adj" fmla="val 9000"/>
            </a:avLst>
          </a:prstGeom>
          <a:solidFill>
            <a:srgbClr val="080330">
              <a:alpha val="5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4956048"/>
            <a:ext cx="182880" cy="182880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864608"/>
            <a:ext cx="4160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Payments stay with your store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 i="0">
                <a:solidFill>
                  <a:srgbClr val="B3C2E0"/>
                </a:solidFill>
                <a:latin typeface="Open Sans"/>
              </a:rPr>
              <a:t>Billing runs through your store’s trusted, secure checkout.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572000"/>
            <a:ext cx="5349240" cy="1691640"/>
          </a:xfrm>
          <a:prstGeom prst="roundRect">
            <a:avLst>
              <a:gd name="adj" fmla="val 9000"/>
            </a:avLst>
          </a:prstGeom>
          <a:solidFill>
            <a:srgbClr val="080330">
              <a:alpha val="55000"/>
            </a:srgbClr>
          </a:solidFill>
          <a:ln w="9525">
            <a:solidFill>
              <a:srgbClr val="446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20840" y="4956048"/>
            <a:ext cx="182880" cy="182880"/>
          </a:xfrm>
          <a:prstGeom prst="ellipse">
            <a:avLst/>
          </a:prstGeom>
          <a:solidFill>
            <a:srgbClr val="7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4864608"/>
            <a:ext cx="4160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ora"/>
              </a:rPr>
              <a:t>Privacy respected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 i="0">
                <a:solidFill>
                  <a:srgbClr val="B3C2E0"/>
                </a:solidFill>
                <a:latin typeface="Open Sans"/>
              </a:rPr>
              <a:t>Customer data-removal requests are handled automatically.</a:t>
            </a:r>
          </a:p>
        </p:txBody>
      </p:sp>
      <p:sp>
        <p:nvSpPr>
          <p:cNvPr id="17" name="Rounded Rectangle 16">
            <a:hlinkClick r:id="rId3" action="ppaction://hlinksldjump"/>
          </p:cNvPr>
          <p:cNvSpPr/>
          <p:nvPr/>
        </p:nvSpPr>
        <p:spPr>
          <a:xfrm>
            <a:off x="411480" y="6327648"/>
            <a:ext cx="105156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AA8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50" b="1" i="0">
                <a:solidFill>
                  <a:srgbClr val="7AA8FF"/>
                </a:solidFill>
                <a:latin typeface="JetBrains Mono"/>
              </a:rPr>
              <a:t>‹  Menu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B3C2E0"/>
                </a:solidFill>
                <a:latin typeface="JetBrains Mono"/>
              </a:rPr>
              <a:t>11 / 13</a:t>
            </a:r>
          </a:p>
        </p:txBody>
      </p:sp>
    </p:spTree>
  </p:cSld>
  <p:clrMapOvr>
    <a:masterClrMapping/>
  </p:clrMapOvr>
  <p:transition spd="med">
    <p:split orient="horz" dir="in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408" y="868680"/>
            <a:ext cx="142875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57400"/>
            <a:ext cx="1036015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4200" b="1" i="0">
                <a:solidFill>
                  <a:srgbClr val="FFFFFF"/>
                </a:solidFill>
                <a:latin typeface="Sora"/>
              </a:rPr>
              <a:t>Never lose a sale to silence again</a:t>
            </a:r>
          </a:p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000" b="0" i="1">
                <a:solidFill>
                  <a:srgbClr val="FFFFFF"/>
                </a:solidFill>
                <a:latin typeface="Instrument Serif"/>
              </a:rPr>
              <a:t>Start free today — live in your store this afternoon.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3520440" y="3886200"/>
            <a:ext cx="246888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80000" dist="90000" dir="5400000" rotWithShape="0">
              <a:srgbClr val="1A1A6E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500" b="1" i="0">
                <a:solidFill>
                  <a:srgbClr val="4466FF"/>
                </a:solidFill>
                <a:latin typeface="Sora"/>
              </a:rPr>
              <a:t>Request access  →</a:t>
            </a:r>
          </a:p>
        </p:txBody>
      </p:sp>
      <p:sp>
        <p:nvSpPr>
          <p:cNvPr id="6" name="Rounded Rectangle 5">
            <a:hlinkClick r:id="rId5"/>
          </p:cNvPr>
          <p:cNvSpPr/>
          <p:nvPr/>
        </p:nvSpPr>
        <p:spPr>
          <a:xfrm>
            <a:off x="6199632" y="3886200"/>
            <a:ext cx="2468880" cy="65836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500" b="1" i="0">
                <a:solidFill>
                  <a:srgbClr val="FFFFFF"/>
                </a:solidFill>
                <a:latin typeface="Sora"/>
              </a:rPr>
              <a:t>Email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0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JetBrains Mono"/>
              </a:rPr>
              <a:t>luma-bot.com</a:t>
            </a:r>
            <a:r>
              <a:rPr sz="1500" b="0" i="0">
                <a:solidFill>
                  <a:srgbClr val="B3CCFF"/>
                </a:solidFill>
                <a:latin typeface="JetBrains Mono"/>
              </a:rPr>
              <a:t>     ·     </a:t>
            </a:r>
            <a:r>
              <a:rPr sz="1500" b="1" i="0">
                <a:solidFill>
                  <a:srgbClr val="FFFFFF"/>
                </a:solidFill>
                <a:latin typeface="JetBrains Mono"/>
              </a:rPr>
              <a:t>hello@luma-bot.com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150">
                <a:solidFill>
                  <a:srgbClr val="B3CCFF"/>
                </a:solidFill>
                <a:latin typeface="JetBrains Mono"/>
              </a:rPr>
              <a:t>Now welcoming a limited number of local businesses</a:t>
            </a:r>
          </a:p>
        </p:txBody>
      </p:sp>
      <p:sp>
        <p:nvSpPr>
          <p:cNvPr id="9" name="Rounded Rectangle 8">
            <a:hlinkClick r:id="rId6" action="ppaction://hlinksldjump"/>
          </p:cNvPr>
          <p:cNvSpPr/>
          <p:nvPr/>
        </p:nvSpPr>
        <p:spPr>
          <a:xfrm>
            <a:off x="5358384" y="6172200"/>
            <a:ext cx="146304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JetBrains Mono"/>
              </a:rPr>
              <a:t>Back to menu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