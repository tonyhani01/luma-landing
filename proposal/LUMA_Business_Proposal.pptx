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8.xml"/><Relationship Id="rId10" Type="http://schemas.openxmlformats.org/officeDocument/2006/relationships/slide" Target="slide9.xml"/><Relationship Id="rId11" Type="http://schemas.openxmlformats.org/officeDocument/2006/relationships/slide" Target="slide10.xml"/><Relationship Id="rId12" Type="http://schemas.openxmlformats.org/officeDocument/2006/relationships/slide" Target="slide11.xml"/><Relationship Id="rId13" Type="http://schemas.openxmlformats.org/officeDocument/2006/relationships/slide" Target="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hyperlink" Target="https://luma-bot.com" TargetMode="External"/><Relationship Id="rId5" Type="http://schemas.openxmlformats.org/officeDocument/2006/relationships/hyperlink" Target="mailto:hello@luma-bot.com" TargetMode="External"/><Relationship Id="rId6"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138928" y="1051560"/>
            <a:ext cx="1883352" cy="1325880"/>
          </a:xfrm>
          <a:prstGeom prst="rect">
            <a:avLst/>
          </a:prstGeom>
        </p:spPr>
      </p:pic>
      <p:sp>
        <p:nvSpPr>
          <p:cNvPr id="4" name="TextBox 3"/>
          <p:cNvSpPr txBox="1"/>
          <p:nvPr/>
        </p:nvSpPr>
        <p:spPr>
          <a:xfrm>
            <a:off x="914400" y="2395728"/>
            <a:ext cx="10360152" cy="457200"/>
          </a:xfrm>
          <a:prstGeom prst="rect">
            <a:avLst/>
          </a:prstGeom>
          <a:noFill/>
        </p:spPr>
        <p:txBody>
          <a:bodyPr wrap="square" anchor="t" lIns="0" rIns="0" tIns="0" bIns="0">
            <a:spAutoFit/>
          </a:bodyPr>
          <a:lstStyle/>
          <a:p>
            <a:pPr algn="ctr"/>
            <a:r>
              <a:rPr sz="3000" b="1" i="0" spc="800">
                <a:solidFill>
                  <a:srgbClr val="FFFFFF"/>
                </a:solidFill>
                <a:latin typeface="Sora"/>
              </a:rPr>
              <a:t>LUMA</a:t>
            </a:r>
          </a:p>
        </p:txBody>
      </p:sp>
      <p:sp>
        <p:nvSpPr>
          <p:cNvPr id="5" name="TextBox 4"/>
          <p:cNvSpPr txBox="1"/>
          <p:nvPr/>
        </p:nvSpPr>
        <p:spPr>
          <a:xfrm>
            <a:off x="914400" y="2907792"/>
            <a:ext cx="10360152" cy="1280160"/>
          </a:xfrm>
          <a:prstGeom prst="rect">
            <a:avLst/>
          </a:prstGeom>
          <a:noFill/>
        </p:spPr>
        <p:txBody>
          <a:bodyPr wrap="square" anchor="t" lIns="0" rIns="0" tIns="0" bIns="0">
            <a:spAutoFit/>
          </a:bodyPr>
          <a:lstStyle/>
          <a:p>
            <a:pPr algn="ctr">
              <a:lnSpc>
                <a:spcPct val="110000"/>
              </a:lnSpc>
              <a:spcAft>
                <a:spcPts val="600"/>
              </a:spcAft>
            </a:pPr>
            <a:r>
              <a:rPr sz="4000" b="1" i="0">
                <a:solidFill>
                  <a:srgbClr val="FFFFFF"/>
                </a:solidFill>
                <a:latin typeface="Sora"/>
              </a:rPr>
              <a:t>The AI teammate behind </a:t>
            </a:r>
            <a:r>
              <a:rPr sz="4000" b="1" i="0">
                <a:solidFill>
                  <a:srgbClr val="7AA8FF"/>
                </a:solidFill>
                <a:latin typeface="Sora"/>
              </a:rPr>
              <a:t>every DM</a:t>
            </a:r>
          </a:p>
          <a:p>
            <a:pPr algn="ctr">
              <a:lnSpc>
                <a:spcPct val="110000"/>
              </a:lnSpc>
              <a:spcAft>
                <a:spcPts val="600"/>
              </a:spcAft>
            </a:pPr>
            <a:r>
              <a:rPr sz="2700" b="0" i="1">
                <a:solidFill>
                  <a:srgbClr val="B3CCFF"/>
                </a:solidFill>
                <a:latin typeface="Instrument Serif"/>
              </a:rPr>
              <a:t>— in the language they wrote to you in.</a:t>
            </a:r>
          </a:p>
        </p:txBody>
      </p:sp>
      <p:sp>
        <p:nvSpPr>
          <p:cNvPr id="6" name="Rounded Rectangle 5"/>
          <p:cNvSpPr/>
          <p:nvPr/>
        </p:nvSpPr>
        <p:spPr>
          <a:xfrm>
            <a:off x="3447288" y="4526280"/>
            <a:ext cx="5303520" cy="457200"/>
          </a:xfrm>
          <a:prstGeom prst="roundRect">
            <a:avLst>
              <a:gd name="adj" fmla="val 50000"/>
            </a:avLst>
          </a:prstGeom>
          <a:solidFill>
            <a:srgbClr val="080330">
              <a:alpha val="55000"/>
            </a:srgbClr>
          </a:solidFill>
          <a:ln w="12700">
            <a:solidFill>
              <a:srgbClr val="4466FF">
                <a:alpha val="65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250" b="1" i="0" spc="160">
                <a:solidFill>
                  <a:srgbClr val="B3CCFF"/>
                </a:solidFill>
                <a:latin typeface="JetBrains Mono"/>
              </a:rPr>
              <a:t>BUSINESS PROPOSAL  ·  AI CUSTOMER SERVICE</a:t>
            </a:r>
          </a:p>
        </p:txBody>
      </p:sp>
      <p:sp>
        <p:nvSpPr>
          <p:cNvPr id="7" name="TextBox 6"/>
          <p:cNvSpPr txBox="1"/>
          <p:nvPr/>
        </p:nvSpPr>
        <p:spPr>
          <a:xfrm>
            <a:off x="914400" y="5440680"/>
            <a:ext cx="10360152" cy="731520"/>
          </a:xfrm>
          <a:prstGeom prst="rect">
            <a:avLst/>
          </a:prstGeom>
          <a:noFill/>
        </p:spPr>
        <p:txBody>
          <a:bodyPr wrap="square" anchor="t" lIns="0" rIns="0" tIns="0" bIns="0">
            <a:spAutoFit/>
          </a:bodyPr>
          <a:lstStyle/>
          <a:p>
            <a:pPr algn="ctr">
              <a:spcAft>
                <a:spcPts val="400"/>
              </a:spcAft>
            </a:pPr>
            <a:r>
              <a:rPr sz="1500" b="0" i="0">
                <a:solidFill>
                  <a:srgbClr val="B3C2E0"/>
                </a:solidFill>
                <a:latin typeface="Open Sans"/>
              </a:rPr>
              <a:t>Prepared for forward-thinking local businesses</a:t>
            </a:r>
          </a:p>
          <a:p>
            <a:pPr algn="ctr">
              <a:spcAft>
                <a:spcPts val="400"/>
              </a:spcAft>
            </a:pPr>
            <a:r>
              <a:rPr sz="1300" b="0" i="0">
                <a:solidFill>
                  <a:srgbClr val="7AA8FF"/>
                </a:solidFill>
                <a:latin typeface="JetBrains Mono"/>
              </a:rPr>
              <a:t>luma-bot.com</a:t>
            </a:r>
          </a:p>
        </p:txBody>
      </p:sp>
      <p:sp>
        <p:nvSpPr>
          <p:cNvPr id="8" name="Rounded Rectangle 7">
            <a:hlinkClick r:id="rId4" action="ppaction://hlinksldjump"/>
          </p:cNvPr>
          <p:cNvSpPr/>
          <p:nvPr/>
        </p:nvSpPr>
        <p:spPr>
          <a:xfrm>
            <a:off x="4992624" y="5943600"/>
            <a:ext cx="2194560" cy="475488"/>
          </a:xfrm>
          <a:prstGeom prst="roundRect">
            <a:avLst>
              <a:gd name="adj" fmla="val 50000"/>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300" b="1" i="0">
                <a:solidFill>
                  <a:srgbClr val="FFFFFF"/>
                </a:solidFill>
                <a:latin typeface="Sora"/>
              </a:rPr>
              <a:t>Explore the proposal  →</a:t>
            </a:r>
          </a:p>
        </p:txBody>
      </p:sp>
    </p:spTree>
  </p:cSld>
  <p:clrMapOvr>
    <a:masterClrMapping/>
  </p:clrMapOvr>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457200" y="384048"/>
            <a:ext cx="649432" cy="457200"/>
          </a:xfrm>
          <a:prstGeom prst="rect">
            <a:avLst/>
          </a:prstGeom>
        </p:spPr>
      </p:pic>
      <p:sp>
        <p:nvSpPr>
          <p:cNvPr id="4" name="TextBox 3"/>
          <p:cNvSpPr txBox="1"/>
          <p:nvPr/>
        </p:nvSpPr>
        <p:spPr>
          <a:xfrm>
            <a:off x="777240" y="105156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NAVIGATION</a:t>
            </a:r>
          </a:p>
        </p:txBody>
      </p:sp>
      <p:sp>
        <p:nvSpPr>
          <p:cNvPr id="5" name="TextBox 4"/>
          <p:cNvSpPr txBox="1"/>
          <p:nvPr/>
        </p:nvSpPr>
        <p:spPr>
          <a:xfrm>
            <a:off x="731520" y="1371600"/>
            <a:ext cx="7315200" cy="914400"/>
          </a:xfrm>
          <a:prstGeom prst="rect">
            <a:avLst/>
          </a:prstGeom>
          <a:noFill/>
        </p:spPr>
        <p:txBody>
          <a:bodyPr wrap="square" anchor="t" lIns="0" rIns="0" tIns="0" bIns="0">
            <a:spAutoFit/>
          </a:bodyPr>
          <a:lstStyle/>
          <a:p>
            <a:pPr algn="l"/>
            <a:r>
              <a:rPr sz="4400" b="1" i="0">
                <a:solidFill>
                  <a:srgbClr val="FFFFFF"/>
                </a:solidFill>
                <a:latin typeface="Sora"/>
              </a:rPr>
              <a:t>What’s inside</a:t>
            </a:r>
          </a:p>
        </p:txBody>
      </p:sp>
      <p:sp>
        <p:nvSpPr>
          <p:cNvPr id="6" name="Rounded Rectangle 5">
            <a:hlinkClick r:id="rId4" action="ppaction://hlinksldjump"/>
          </p:cNvPr>
          <p:cNvSpPr/>
          <p:nvPr/>
        </p:nvSpPr>
        <p:spPr>
          <a:xfrm>
            <a:off x="731520" y="2331720"/>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41448"/>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01</a:t>
            </a:r>
          </a:p>
        </p:txBody>
      </p:sp>
      <p:sp>
        <p:nvSpPr>
          <p:cNvPr id="8" name="TextBox 7"/>
          <p:cNvSpPr txBox="1"/>
          <p:nvPr/>
        </p:nvSpPr>
        <p:spPr>
          <a:xfrm>
            <a:off x="1783080" y="2414016"/>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The problem</a:t>
            </a:r>
          </a:p>
          <a:p>
            <a:pPr algn="l">
              <a:spcAft>
                <a:spcPts val="100"/>
              </a:spcAft>
            </a:pPr>
            <a:r>
              <a:rPr sz="1050" b="0" i="0">
                <a:solidFill>
                  <a:srgbClr val="B3C2E0"/>
                </a:solidFill>
                <a:latin typeface="Open Sans"/>
              </a:rPr>
              <a:t>DMs pile up, replies lag, sales slip away</a:t>
            </a:r>
          </a:p>
        </p:txBody>
      </p:sp>
      <p:sp>
        <p:nvSpPr>
          <p:cNvPr id="9" name="Rounded Rectangle 8">
            <a:hlinkClick r:id="rId5" action="ppaction://hlinksldjump"/>
          </p:cNvPr>
          <p:cNvSpPr/>
          <p:nvPr/>
        </p:nvSpPr>
        <p:spPr>
          <a:xfrm>
            <a:off x="731520" y="3118104"/>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227832"/>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02</a:t>
            </a:r>
          </a:p>
        </p:txBody>
      </p:sp>
      <p:sp>
        <p:nvSpPr>
          <p:cNvPr id="11" name="TextBox 10"/>
          <p:cNvSpPr txBox="1"/>
          <p:nvPr/>
        </p:nvSpPr>
        <p:spPr>
          <a:xfrm>
            <a:off x="1783080" y="3200400"/>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Meet LUMA</a:t>
            </a:r>
          </a:p>
          <a:p>
            <a:pPr algn="l">
              <a:spcAft>
                <a:spcPts val="100"/>
              </a:spcAft>
            </a:pPr>
            <a:r>
              <a:rPr sz="1050" b="0" i="0">
                <a:solidFill>
                  <a:srgbClr val="B3C2E0"/>
                </a:solidFill>
                <a:latin typeface="Open Sans"/>
              </a:rPr>
              <a:t>Your always-on AI teammate</a:t>
            </a:r>
          </a:p>
        </p:txBody>
      </p:sp>
      <p:sp>
        <p:nvSpPr>
          <p:cNvPr id="12" name="Rounded Rectangle 11">
            <a:hlinkClick r:id="rId6" action="ppaction://hlinksldjump"/>
          </p:cNvPr>
          <p:cNvSpPr/>
          <p:nvPr/>
        </p:nvSpPr>
        <p:spPr>
          <a:xfrm>
            <a:off x="731520" y="3904488"/>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4014216"/>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03</a:t>
            </a:r>
          </a:p>
        </p:txBody>
      </p:sp>
      <p:sp>
        <p:nvSpPr>
          <p:cNvPr id="14" name="TextBox 13"/>
          <p:cNvSpPr txBox="1"/>
          <p:nvPr/>
        </p:nvSpPr>
        <p:spPr>
          <a:xfrm>
            <a:off x="1783080" y="3986784"/>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How it works</a:t>
            </a:r>
          </a:p>
          <a:p>
            <a:pPr algn="l">
              <a:spcAft>
                <a:spcPts val="100"/>
              </a:spcAft>
            </a:pPr>
            <a:r>
              <a:rPr sz="1050" b="0" i="0">
                <a:solidFill>
                  <a:srgbClr val="B3C2E0"/>
                </a:solidFill>
                <a:latin typeface="Open Sans"/>
              </a:rPr>
              <a:t>Answer · Reply · Hand off</a:t>
            </a:r>
          </a:p>
        </p:txBody>
      </p:sp>
      <p:sp>
        <p:nvSpPr>
          <p:cNvPr id="15" name="Rounded Rectangle 14">
            <a:hlinkClick r:id="rId7" action="ppaction://hlinksldjump"/>
          </p:cNvPr>
          <p:cNvSpPr/>
          <p:nvPr/>
        </p:nvSpPr>
        <p:spPr>
          <a:xfrm>
            <a:off x="731520" y="4690872"/>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800600"/>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04</a:t>
            </a:r>
          </a:p>
        </p:txBody>
      </p:sp>
      <p:sp>
        <p:nvSpPr>
          <p:cNvPr id="17" name="TextBox 16"/>
          <p:cNvSpPr txBox="1"/>
          <p:nvPr/>
        </p:nvSpPr>
        <p:spPr>
          <a:xfrm>
            <a:off x="1783080" y="4773168"/>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Get started in 3 steps</a:t>
            </a:r>
          </a:p>
          <a:p>
            <a:pPr algn="l">
              <a:spcAft>
                <a:spcPts val="100"/>
              </a:spcAft>
            </a:pPr>
            <a:r>
              <a:rPr sz="1050" b="0" i="0">
                <a:solidFill>
                  <a:srgbClr val="B3C2E0"/>
                </a:solidFill>
                <a:latin typeface="Open Sans"/>
              </a:rPr>
              <a:t>Connect, teach, go live</a:t>
            </a:r>
          </a:p>
        </p:txBody>
      </p:sp>
      <p:sp>
        <p:nvSpPr>
          <p:cNvPr id="18" name="Rounded Rectangle 17">
            <a:hlinkClick r:id="rId8" action="ppaction://hlinksldjump"/>
          </p:cNvPr>
          <p:cNvSpPr/>
          <p:nvPr/>
        </p:nvSpPr>
        <p:spPr>
          <a:xfrm>
            <a:off x="731520" y="5477256"/>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586984"/>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05</a:t>
            </a:r>
          </a:p>
        </p:txBody>
      </p:sp>
      <p:sp>
        <p:nvSpPr>
          <p:cNvPr id="20" name="TextBox 19"/>
          <p:cNvSpPr txBox="1"/>
          <p:nvPr/>
        </p:nvSpPr>
        <p:spPr>
          <a:xfrm>
            <a:off x="1783080" y="5559552"/>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Feature set</a:t>
            </a:r>
          </a:p>
          <a:p>
            <a:pPr algn="l">
              <a:spcAft>
                <a:spcPts val="100"/>
              </a:spcAft>
            </a:pPr>
            <a:r>
              <a:rPr sz="1050" b="0" i="0">
                <a:solidFill>
                  <a:srgbClr val="B3C2E0"/>
                </a:solidFill>
                <a:latin typeface="Open Sans"/>
              </a:rPr>
              <a:t>Everything in one inbox</a:t>
            </a:r>
          </a:p>
        </p:txBody>
      </p:sp>
      <p:sp>
        <p:nvSpPr>
          <p:cNvPr id="21" name="Rounded Rectangle 20">
            <a:hlinkClick r:id="rId9" action="ppaction://hlinksldjump"/>
          </p:cNvPr>
          <p:cNvSpPr/>
          <p:nvPr/>
        </p:nvSpPr>
        <p:spPr>
          <a:xfrm>
            <a:off x="6355080" y="2331720"/>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6248" y="2441448"/>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06</a:t>
            </a:r>
          </a:p>
        </p:txBody>
      </p:sp>
      <p:sp>
        <p:nvSpPr>
          <p:cNvPr id="23" name="TextBox 22"/>
          <p:cNvSpPr txBox="1"/>
          <p:nvPr/>
        </p:nvSpPr>
        <p:spPr>
          <a:xfrm>
            <a:off x="7406640" y="2414016"/>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Why LUMA</a:t>
            </a:r>
          </a:p>
          <a:p>
            <a:pPr algn="l">
              <a:spcAft>
                <a:spcPts val="100"/>
              </a:spcAft>
            </a:pPr>
            <a:r>
              <a:rPr sz="1050" b="0" i="0">
                <a:solidFill>
                  <a:srgbClr val="B3C2E0"/>
                </a:solidFill>
                <a:latin typeface="Open Sans"/>
              </a:rPr>
              <a:t>Built for merchants, not generic bots</a:t>
            </a:r>
          </a:p>
        </p:txBody>
      </p:sp>
      <p:sp>
        <p:nvSpPr>
          <p:cNvPr id="24" name="Rounded Rectangle 23">
            <a:hlinkClick r:id="rId10" action="ppaction://hlinksldjump"/>
          </p:cNvPr>
          <p:cNvSpPr/>
          <p:nvPr/>
        </p:nvSpPr>
        <p:spPr>
          <a:xfrm>
            <a:off x="6355080" y="3118104"/>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3227832"/>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07</a:t>
            </a:r>
          </a:p>
        </p:txBody>
      </p:sp>
      <p:sp>
        <p:nvSpPr>
          <p:cNvPr id="26" name="TextBox 25"/>
          <p:cNvSpPr txBox="1"/>
          <p:nvPr/>
        </p:nvSpPr>
        <p:spPr>
          <a:xfrm>
            <a:off x="7406640" y="3200400"/>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Proven performance</a:t>
            </a:r>
          </a:p>
          <a:p>
            <a:pPr algn="l">
              <a:spcAft>
                <a:spcPts val="100"/>
              </a:spcAft>
            </a:pPr>
            <a:r>
              <a:rPr sz="1050" b="0" i="0">
                <a:solidFill>
                  <a:srgbClr val="B3C2E0"/>
                </a:solidFill>
                <a:latin typeface="Open Sans"/>
              </a:rPr>
              <a:t>Speed, languages, uptime</a:t>
            </a:r>
          </a:p>
        </p:txBody>
      </p:sp>
      <p:sp>
        <p:nvSpPr>
          <p:cNvPr id="27" name="Rounded Rectangle 26">
            <a:hlinkClick r:id="rId11" action="ppaction://hlinksldjump"/>
          </p:cNvPr>
          <p:cNvSpPr/>
          <p:nvPr/>
        </p:nvSpPr>
        <p:spPr>
          <a:xfrm>
            <a:off x="6355080" y="3904488"/>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56248" y="4014216"/>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08</a:t>
            </a:r>
          </a:p>
        </p:txBody>
      </p:sp>
      <p:sp>
        <p:nvSpPr>
          <p:cNvPr id="29" name="TextBox 28"/>
          <p:cNvSpPr txBox="1"/>
          <p:nvPr/>
        </p:nvSpPr>
        <p:spPr>
          <a:xfrm>
            <a:off x="7406640" y="3986784"/>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Pricing</a:t>
            </a:r>
          </a:p>
          <a:p>
            <a:pPr algn="l">
              <a:spcAft>
                <a:spcPts val="100"/>
              </a:spcAft>
            </a:pPr>
            <a:r>
              <a:rPr sz="1050" b="0" i="0">
                <a:solidFill>
                  <a:srgbClr val="B3C2E0"/>
                </a:solidFill>
                <a:latin typeface="Open Sans"/>
              </a:rPr>
              <a:t>Plans that scale with you</a:t>
            </a:r>
          </a:p>
        </p:txBody>
      </p:sp>
      <p:sp>
        <p:nvSpPr>
          <p:cNvPr id="30" name="Rounded Rectangle 29">
            <a:hlinkClick r:id="rId12" action="ppaction://hlinksldjump"/>
          </p:cNvPr>
          <p:cNvSpPr/>
          <p:nvPr/>
        </p:nvSpPr>
        <p:spPr>
          <a:xfrm>
            <a:off x="6355080" y="4690872"/>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4800600"/>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09</a:t>
            </a:r>
          </a:p>
        </p:txBody>
      </p:sp>
      <p:sp>
        <p:nvSpPr>
          <p:cNvPr id="32" name="TextBox 31"/>
          <p:cNvSpPr txBox="1"/>
          <p:nvPr/>
        </p:nvSpPr>
        <p:spPr>
          <a:xfrm>
            <a:off x="7406640" y="4773168"/>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Security &amp; trust</a:t>
            </a:r>
          </a:p>
          <a:p>
            <a:pPr algn="l">
              <a:spcAft>
                <a:spcPts val="100"/>
              </a:spcAft>
            </a:pPr>
            <a:r>
              <a:rPr sz="1050" b="0" i="0">
                <a:solidFill>
                  <a:srgbClr val="B3C2E0"/>
                </a:solidFill>
                <a:latin typeface="Open Sans"/>
              </a:rPr>
              <a:t>Your data, protected</a:t>
            </a:r>
          </a:p>
        </p:txBody>
      </p:sp>
      <p:sp>
        <p:nvSpPr>
          <p:cNvPr id="33" name="Rounded Rectangle 32">
            <a:hlinkClick r:id="rId13" action="ppaction://hlinksldjump"/>
          </p:cNvPr>
          <p:cNvSpPr/>
          <p:nvPr/>
        </p:nvSpPr>
        <p:spPr>
          <a:xfrm>
            <a:off x="6355080" y="5477256"/>
            <a:ext cx="5074920" cy="676656"/>
          </a:xfrm>
          <a:prstGeom prst="roundRect">
            <a:avLst>
              <a:gd name="adj" fmla="val 18000"/>
            </a:avLst>
          </a:prstGeom>
          <a:solidFill>
            <a:srgbClr val="080330">
              <a:alpha val="4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5586984"/>
            <a:ext cx="822960" cy="457200"/>
          </a:xfrm>
          <a:prstGeom prst="rect">
            <a:avLst/>
          </a:prstGeom>
          <a:noFill/>
        </p:spPr>
        <p:txBody>
          <a:bodyPr wrap="square" anchor="t" lIns="0" rIns="0" tIns="0" bIns="0">
            <a:spAutoFit/>
          </a:bodyPr>
          <a:lstStyle/>
          <a:p>
            <a:pPr algn="l"/>
            <a:r>
              <a:rPr sz="2200" b="1" i="0">
                <a:solidFill>
                  <a:srgbClr val="7AA8FF"/>
                </a:solidFill>
                <a:latin typeface="JetBrains Mono"/>
              </a:rPr>
              <a:t>10</a:t>
            </a:r>
          </a:p>
        </p:txBody>
      </p:sp>
      <p:sp>
        <p:nvSpPr>
          <p:cNvPr id="35" name="TextBox 34"/>
          <p:cNvSpPr txBox="1"/>
          <p:nvPr/>
        </p:nvSpPr>
        <p:spPr>
          <a:xfrm>
            <a:off x="7406640" y="5559552"/>
            <a:ext cx="3840480" cy="548640"/>
          </a:xfrm>
          <a:prstGeom prst="rect">
            <a:avLst/>
          </a:prstGeom>
          <a:noFill/>
        </p:spPr>
        <p:txBody>
          <a:bodyPr wrap="square" anchor="t" lIns="0" rIns="0" tIns="0" bIns="0">
            <a:spAutoFit/>
          </a:bodyPr>
          <a:lstStyle/>
          <a:p>
            <a:pPr algn="l">
              <a:spcAft>
                <a:spcPts val="100"/>
              </a:spcAft>
            </a:pPr>
            <a:r>
              <a:rPr sz="1550" b="1" i="0">
                <a:solidFill>
                  <a:srgbClr val="FFFFFF"/>
                </a:solidFill>
                <a:latin typeface="Sora"/>
              </a:rPr>
              <a:t>Next steps</a:t>
            </a:r>
          </a:p>
          <a:p>
            <a:pPr algn="l">
              <a:spcAft>
                <a:spcPts val="100"/>
              </a:spcAft>
            </a:pPr>
            <a:r>
              <a:rPr sz="1050" b="0" i="0">
                <a:solidFill>
                  <a:srgbClr val="B3C2E0"/>
                </a:solidFill>
                <a:latin typeface="Open Sans"/>
              </a:rPr>
              <a:t>Start your free trial</a:t>
            </a:r>
          </a:p>
        </p:txBody>
      </p:sp>
      <p:sp>
        <p:nvSpPr>
          <p:cNvPr id="36" name="TextBox 35"/>
          <p:cNvSpPr txBox="1"/>
          <p:nvPr/>
        </p:nvSpPr>
        <p:spPr>
          <a:xfrm>
            <a:off x="731520" y="6400800"/>
            <a:ext cx="7315200" cy="365760"/>
          </a:xfrm>
          <a:prstGeom prst="rect">
            <a:avLst/>
          </a:prstGeom>
          <a:noFill/>
        </p:spPr>
        <p:txBody>
          <a:bodyPr wrap="square" anchor="t" lIns="0" rIns="0" tIns="0" bIns="0">
            <a:spAutoFit/>
          </a:bodyPr>
          <a:lstStyle/>
          <a:p>
            <a:pPr algn="l"/>
            <a:r>
              <a:rPr sz="1050" b="0" i="0">
                <a:solidFill>
                  <a:srgbClr val="7AA8FF"/>
                </a:solidFill>
                <a:latin typeface="JetBrains Mono"/>
              </a:rPr>
              <a:t>Tip: every card and button in this deck is clickable.</a:t>
            </a:r>
          </a:p>
        </p:txBody>
      </p:sp>
      <p:sp>
        <p:nvSpPr>
          <p:cNvPr id="37" name="TextBox 36"/>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02 / 13</a:t>
            </a:r>
          </a:p>
        </p:txBody>
      </p:sp>
    </p:spTree>
  </p:cSld>
  <p:clrMapOvr>
    <a:masterClrMapping/>
  </p:clrMapOvr>
  <p:transition spd="med">
    <p:push dir="u"/>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77724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01 · THE PROBLEM</a:t>
            </a:r>
          </a:p>
        </p:txBody>
      </p:sp>
      <p:sp>
        <p:nvSpPr>
          <p:cNvPr id="4" name="TextBox 3"/>
          <p:cNvSpPr txBox="1"/>
          <p:nvPr/>
        </p:nvSpPr>
        <p:spPr>
          <a:xfrm>
            <a:off x="731520" y="1097280"/>
            <a:ext cx="10515600" cy="1463040"/>
          </a:xfrm>
          <a:prstGeom prst="rect">
            <a:avLst/>
          </a:prstGeom>
          <a:noFill/>
        </p:spPr>
        <p:txBody>
          <a:bodyPr wrap="square" anchor="t" lIns="0" rIns="0" tIns="0" bIns="0">
            <a:spAutoFit/>
          </a:bodyPr>
          <a:lstStyle/>
          <a:p>
            <a:pPr algn="l">
              <a:lnSpc>
                <a:spcPct val="105000"/>
              </a:lnSpc>
            </a:pPr>
            <a:r>
              <a:rPr sz="4200" b="1" i="0">
                <a:solidFill>
                  <a:srgbClr val="FFFFFF"/>
                </a:solidFill>
                <a:latin typeface="Sora"/>
              </a:rPr>
              <a:t>Every silent DM is a </a:t>
            </a:r>
            <a:r>
              <a:rPr sz="4200" b="1" i="0">
                <a:solidFill>
                  <a:srgbClr val="7AA8FF"/>
                </a:solidFill>
                <a:latin typeface="Sora"/>
              </a:rPr>
              <a:t>sale walking out the door</a:t>
            </a:r>
            <a:r>
              <a:rPr sz="4200" b="1" i="0">
                <a:solidFill>
                  <a:srgbClr val="FFFFFF"/>
                </a:solidFill>
                <a:latin typeface="Sora"/>
              </a:rPr>
              <a:t>.</a:t>
            </a:r>
          </a:p>
        </p:txBody>
      </p:sp>
      <p:sp>
        <p:nvSpPr>
          <p:cNvPr id="5" name="Rounded Rectangle 4"/>
          <p:cNvSpPr/>
          <p:nvPr/>
        </p:nvSpPr>
        <p:spPr>
          <a:xfrm>
            <a:off x="731520" y="2697480"/>
            <a:ext cx="5349240" cy="1627632"/>
          </a:xfrm>
          <a:prstGeom prst="roundRect">
            <a:avLst>
              <a:gd name="adj" fmla="val 10000"/>
            </a:avLst>
          </a:prstGeom>
          <a:solidFill>
            <a:srgbClr val="080330">
              <a:alpha val="50000"/>
            </a:srgbClr>
          </a:solidFill>
          <a:ln w="9525">
            <a:solidFill>
              <a:srgbClr val="4466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98648"/>
            <a:ext cx="914400" cy="640080"/>
          </a:xfrm>
          <a:prstGeom prst="rect">
            <a:avLst/>
          </a:prstGeom>
          <a:noFill/>
        </p:spPr>
        <p:txBody>
          <a:bodyPr wrap="square" anchor="t" lIns="0" rIns="0" tIns="0" bIns="0">
            <a:spAutoFit/>
          </a:bodyPr>
          <a:lstStyle/>
          <a:p>
            <a:pPr algn="l"/>
            <a:r>
              <a:rPr sz="3000" b="0" i="0">
                <a:solidFill>
                  <a:srgbClr val="7AA8FF"/>
                </a:solidFill>
                <a:latin typeface="Open Sans"/>
              </a:rPr>
              <a:t>⏱</a:t>
            </a:r>
          </a:p>
        </p:txBody>
      </p:sp>
      <p:sp>
        <p:nvSpPr>
          <p:cNvPr id="7" name="TextBox 6"/>
          <p:cNvSpPr txBox="1"/>
          <p:nvPr/>
        </p:nvSpPr>
        <p:spPr>
          <a:xfrm>
            <a:off x="1005840" y="3410712"/>
            <a:ext cx="4800600" cy="914400"/>
          </a:xfrm>
          <a:prstGeom prst="rect">
            <a:avLst/>
          </a:prstGeom>
          <a:noFill/>
        </p:spPr>
        <p:txBody>
          <a:bodyPr wrap="square" anchor="t" lIns="0" rIns="0" tIns="0" bIns="0">
            <a:spAutoFit/>
          </a:bodyPr>
          <a:lstStyle/>
          <a:p>
            <a:pPr algn="l">
              <a:lnSpc>
                <a:spcPct val="105000"/>
              </a:lnSpc>
              <a:spcAft>
                <a:spcPts val="400"/>
              </a:spcAft>
            </a:pPr>
            <a:r>
              <a:rPr sz="1700" b="1" i="0">
                <a:solidFill>
                  <a:srgbClr val="FFFFFF"/>
                </a:solidFill>
                <a:latin typeface="Sora"/>
              </a:rPr>
              <a:t>Replies come too late</a:t>
            </a:r>
          </a:p>
          <a:p>
            <a:pPr algn="l">
              <a:lnSpc>
                <a:spcPct val="105000"/>
              </a:lnSpc>
              <a:spcAft>
                <a:spcPts val="400"/>
              </a:spcAft>
            </a:pPr>
            <a:r>
              <a:rPr sz="1200" b="0" i="0">
                <a:solidFill>
                  <a:srgbClr val="B3C2E0"/>
                </a:solidFill>
                <a:latin typeface="Open Sans"/>
              </a:rPr>
              <a:t>Customers message at midnight and on weekends. By the time you reply, they’ve bought elsewhere.</a:t>
            </a:r>
          </a:p>
        </p:txBody>
      </p:sp>
      <p:sp>
        <p:nvSpPr>
          <p:cNvPr id="8" name="Rounded Rectangle 7"/>
          <p:cNvSpPr/>
          <p:nvPr/>
        </p:nvSpPr>
        <p:spPr>
          <a:xfrm>
            <a:off x="6355080" y="2697480"/>
            <a:ext cx="5349240" cy="1627632"/>
          </a:xfrm>
          <a:prstGeom prst="roundRect">
            <a:avLst>
              <a:gd name="adj" fmla="val 10000"/>
            </a:avLst>
          </a:prstGeom>
          <a:solidFill>
            <a:srgbClr val="080330">
              <a:alpha val="50000"/>
            </a:srgbClr>
          </a:solidFill>
          <a:ln w="9525">
            <a:solidFill>
              <a:srgbClr val="4466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898648"/>
            <a:ext cx="914400" cy="640080"/>
          </a:xfrm>
          <a:prstGeom prst="rect">
            <a:avLst/>
          </a:prstGeom>
          <a:noFill/>
        </p:spPr>
        <p:txBody>
          <a:bodyPr wrap="square" anchor="t" lIns="0" rIns="0" tIns="0" bIns="0">
            <a:spAutoFit/>
          </a:bodyPr>
          <a:lstStyle/>
          <a:p>
            <a:pPr algn="l"/>
            <a:r>
              <a:rPr sz="3000" b="0" i="0">
                <a:solidFill>
                  <a:srgbClr val="7AA8FF"/>
                </a:solidFill>
                <a:latin typeface="Open Sans"/>
              </a:rPr>
              <a:t>💬</a:t>
            </a:r>
          </a:p>
        </p:txBody>
      </p:sp>
      <p:sp>
        <p:nvSpPr>
          <p:cNvPr id="10" name="TextBox 9"/>
          <p:cNvSpPr txBox="1"/>
          <p:nvPr/>
        </p:nvSpPr>
        <p:spPr>
          <a:xfrm>
            <a:off x="6629400" y="3410712"/>
            <a:ext cx="4800600" cy="914400"/>
          </a:xfrm>
          <a:prstGeom prst="rect">
            <a:avLst/>
          </a:prstGeom>
          <a:noFill/>
        </p:spPr>
        <p:txBody>
          <a:bodyPr wrap="square" anchor="t" lIns="0" rIns="0" tIns="0" bIns="0">
            <a:spAutoFit/>
          </a:bodyPr>
          <a:lstStyle/>
          <a:p>
            <a:pPr algn="l">
              <a:lnSpc>
                <a:spcPct val="105000"/>
              </a:lnSpc>
              <a:spcAft>
                <a:spcPts val="400"/>
              </a:spcAft>
            </a:pPr>
            <a:r>
              <a:rPr sz="1700" b="1" i="0">
                <a:solidFill>
                  <a:srgbClr val="FFFFFF"/>
                </a:solidFill>
                <a:latin typeface="Sora"/>
              </a:rPr>
              <a:t>The same questions, endlessly</a:t>
            </a:r>
          </a:p>
          <a:p>
            <a:pPr algn="l">
              <a:lnSpc>
                <a:spcPct val="105000"/>
              </a:lnSpc>
              <a:spcAft>
                <a:spcPts val="400"/>
              </a:spcAft>
            </a:pPr>
            <a:r>
              <a:rPr sz="1200" b="0" i="0">
                <a:solidFill>
                  <a:srgbClr val="B3C2E0"/>
                </a:solidFill>
                <a:latin typeface="Open Sans"/>
              </a:rPr>
              <a:t>“Is this in stock?” “Where’s my order?” “Do you ship to me?” — answered manually, all day.</a:t>
            </a:r>
          </a:p>
        </p:txBody>
      </p:sp>
      <p:sp>
        <p:nvSpPr>
          <p:cNvPr id="11" name="Rounded Rectangle 10"/>
          <p:cNvSpPr/>
          <p:nvPr/>
        </p:nvSpPr>
        <p:spPr>
          <a:xfrm>
            <a:off x="731520" y="4599432"/>
            <a:ext cx="5349240" cy="1627632"/>
          </a:xfrm>
          <a:prstGeom prst="roundRect">
            <a:avLst>
              <a:gd name="adj" fmla="val 10000"/>
            </a:avLst>
          </a:prstGeom>
          <a:solidFill>
            <a:srgbClr val="080330">
              <a:alpha val="50000"/>
            </a:srgbClr>
          </a:solidFill>
          <a:ln w="9525">
            <a:solidFill>
              <a:srgbClr val="4466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800600"/>
            <a:ext cx="914400" cy="640080"/>
          </a:xfrm>
          <a:prstGeom prst="rect">
            <a:avLst/>
          </a:prstGeom>
          <a:noFill/>
        </p:spPr>
        <p:txBody>
          <a:bodyPr wrap="square" anchor="t" lIns="0" rIns="0" tIns="0" bIns="0">
            <a:spAutoFit/>
          </a:bodyPr>
          <a:lstStyle/>
          <a:p>
            <a:pPr algn="l"/>
            <a:r>
              <a:rPr sz="3000" b="0" i="0">
                <a:solidFill>
                  <a:srgbClr val="7AA8FF"/>
                </a:solidFill>
                <a:latin typeface="Open Sans"/>
              </a:rPr>
              <a:t>🌐</a:t>
            </a:r>
          </a:p>
        </p:txBody>
      </p:sp>
      <p:sp>
        <p:nvSpPr>
          <p:cNvPr id="13" name="TextBox 12"/>
          <p:cNvSpPr txBox="1"/>
          <p:nvPr/>
        </p:nvSpPr>
        <p:spPr>
          <a:xfrm>
            <a:off x="1005840" y="5312664"/>
            <a:ext cx="4800600" cy="914400"/>
          </a:xfrm>
          <a:prstGeom prst="rect">
            <a:avLst/>
          </a:prstGeom>
          <a:noFill/>
        </p:spPr>
        <p:txBody>
          <a:bodyPr wrap="square" anchor="t" lIns="0" rIns="0" tIns="0" bIns="0">
            <a:spAutoFit/>
          </a:bodyPr>
          <a:lstStyle/>
          <a:p>
            <a:pPr algn="l">
              <a:lnSpc>
                <a:spcPct val="105000"/>
              </a:lnSpc>
              <a:spcAft>
                <a:spcPts val="400"/>
              </a:spcAft>
            </a:pPr>
            <a:r>
              <a:rPr sz="1700" b="1" i="0">
                <a:solidFill>
                  <a:srgbClr val="FFFFFF"/>
                </a:solidFill>
                <a:latin typeface="Sora"/>
              </a:rPr>
              <a:t>Customers write in 3 languages</a:t>
            </a:r>
          </a:p>
          <a:p>
            <a:pPr algn="l">
              <a:lnSpc>
                <a:spcPct val="105000"/>
              </a:lnSpc>
              <a:spcAft>
                <a:spcPts val="400"/>
              </a:spcAft>
            </a:pPr>
            <a:r>
              <a:rPr sz="1200" b="0" i="0">
                <a:solidFill>
                  <a:srgbClr val="B3C2E0"/>
                </a:solidFill>
                <a:latin typeface="Open Sans"/>
              </a:rPr>
              <a:t>Arabic, English, Franco-Arabic in the same inbox. Staff juggle tone and translation.</a:t>
            </a:r>
          </a:p>
        </p:txBody>
      </p:sp>
      <p:sp>
        <p:nvSpPr>
          <p:cNvPr id="14" name="Rounded Rectangle 13"/>
          <p:cNvSpPr/>
          <p:nvPr/>
        </p:nvSpPr>
        <p:spPr>
          <a:xfrm>
            <a:off x="6355080" y="4599432"/>
            <a:ext cx="5349240" cy="1627632"/>
          </a:xfrm>
          <a:prstGeom prst="roundRect">
            <a:avLst>
              <a:gd name="adj" fmla="val 10000"/>
            </a:avLst>
          </a:prstGeom>
          <a:solidFill>
            <a:srgbClr val="080330">
              <a:alpha val="50000"/>
            </a:srgbClr>
          </a:solidFill>
          <a:ln w="9525">
            <a:solidFill>
              <a:srgbClr val="4466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800600"/>
            <a:ext cx="914400" cy="640080"/>
          </a:xfrm>
          <a:prstGeom prst="rect">
            <a:avLst/>
          </a:prstGeom>
          <a:noFill/>
        </p:spPr>
        <p:txBody>
          <a:bodyPr wrap="square" anchor="t" lIns="0" rIns="0" tIns="0" bIns="0">
            <a:spAutoFit/>
          </a:bodyPr>
          <a:lstStyle/>
          <a:p>
            <a:pPr algn="l"/>
            <a:r>
              <a:rPr sz="3000" b="0" i="0">
                <a:solidFill>
                  <a:srgbClr val="7AA8FF"/>
                </a:solidFill>
                <a:latin typeface="Open Sans"/>
              </a:rPr>
              <a:t>📉</a:t>
            </a:r>
          </a:p>
        </p:txBody>
      </p:sp>
      <p:sp>
        <p:nvSpPr>
          <p:cNvPr id="16" name="TextBox 15"/>
          <p:cNvSpPr txBox="1"/>
          <p:nvPr/>
        </p:nvSpPr>
        <p:spPr>
          <a:xfrm>
            <a:off x="6629400" y="5312664"/>
            <a:ext cx="4800600" cy="914400"/>
          </a:xfrm>
          <a:prstGeom prst="rect">
            <a:avLst/>
          </a:prstGeom>
          <a:noFill/>
        </p:spPr>
        <p:txBody>
          <a:bodyPr wrap="square" anchor="t" lIns="0" rIns="0" tIns="0" bIns="0">
            <a:spAutoFit/>
          </a:bodyPr>
          <a:lstStyle/>
          <a:p>
            <a:pPr algn="l">
              <a:lnSpc>
                <a:spcPct val="105000"/>
              </a:lnSpc>
              <a:spcAft>
                <a:spcPts val="400"/>
              </a:spcAft>
            </a:pPr>
            <a:r>
              <a:rPr sz="1700" b="1" i="0">
                <a:solidFill>
                  <a:srgbClr val="FFFFFF"/>
                </a:solidFill>
                <a:latin typeface="Sora"/>
              </a:rPr>
              <a:t>No view of what’s working</a:t>
            </a:r>
          </a:p>
          <a:p>
            <a:pPr algn="l">
              <a:lnSpc>
                <a:spcPct val="105000"/>
              </a:lnSpc>
              <a:spcAft>
                <a:spcPts val="400"/>
              </a:spcAft>
            </a:pPr>
            <a:r>
              <a:rPr sz="1200" b="0" i="0">
                <a:solidFill>
                  <a:srgbClr val="B3C2E0"/>
                </a:solidFill>
                <a:latin typeface="Open Sans"/>
              </a:rPr>
              <a:t>No idea how many messages convert, what gets asked most, or when your peak hours hit.</a:t>
            </a:r>
          </a:p>
        </p:txBody>
      </p:sp>
      <p:sp>
        <p:nvSpPr>
          <p:cNvPr id="17" name="Rounded Rectangle 16">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18" name="TextBox 17"/>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03 / 13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77724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02 · MEET LUMA</a:t>
            </a:r>
          </a:p>
        </p:txBody>
      </p:sp>
      <p:sp>
        <p:nvSpPr>
          <p:cNvPr id="4" name="TextBox 3"/>
          <p:cNvSpPr txBox="1"/>
          <p:nvPr/>
        </p:nvSpPr>
        <p:spPr>
          <a:xfrm>
            <a:off x="731520" y="1143000"/>
            <a:ext cx="6766560" cy="2377440"/>
          </a:xfrm>
          <a:prstGeom prst="rect">
            <a:avLst/>
          </a:prstGeom>
          <a:noFill/>
        </p:spPr>
        <p:txBody>
          <a:bodyPr wrap="square" anchor="t" lIns="0" rIns="0" tIns="0" bIns="0">
            <a:spAutoFit/>
          </a:bodyPr>
          <a:lstStyle/>
          <a:p>
            <a:pPr algn="l">
              <a:lnSpc>
                <a:spcPct val="112000"/>
              </a:lnSpc>
              <a:spcAft>
                <a:spcPts val="600"/>
              </a:spcAft>
            </a:pPr>
            <a:r>
              <a:rPr sz="4000" b="1" i="0">
                <a:solidFill>
                  <a:srgbClr val="FFFFFF"/>
                </a:solidFill>
                <a:latin typeface="Sora"/>
              </a:rPr>
              <a:t>An AI teammate that </a:t>
            </a:r>
            <a:r>
              <a:rPr sz="4000" b="1" i="0">
                <a:solidFill>
                  <a:srgbClr val="7AA8FF"/>
                </a:solidFill>
                <a:latin typeface="Sora"/>
              </a:rPr>
              <a:t>never sleeps</a:t>
            </a:r>
          </a:p>
          <a:p>
            <a:pPr algn="l">
              <a:lnSpc>
                <a:spcPct val="112000"/>
              </a:lnSpc>
              <a:spcAft>
                <a:spcPts val="600"/>
              </a:spcAft>
            </a:pPr>
            <a:r>
              <a:rPr sz="800" b="0" i="0">
                <a:solidFill>
                  <a:srgbClr val="FFFFFF"/>
                </a:solidFill>
                <a:latin typeface="Open Sans"/>
              </a:rPr>
              <a:t/>
            </a:r>
          </a:p>
          <a:p>
            <a:pPr algn="l">
              <a:lnSpc>
                <a:spcPct val="112000"/>
              </a:lnSpc>
              <a:spcAft>
                <a:spcPts val="600"/>
              </a:spcAft>
            </a:pPr>
            <a:r>
              <a:rPr sz="1650" b="0" i="0">
                <a:solidFill>
                  <a:srgbClr val="B3C2E0"/>
                </a:solidFill>
                <a:latin typeface="Open Sans"/>
              </a:rPr>
              <a:t>LUMA reads every Instagram DM and Shopify chat, answers in the customer’s own language with live catalog and order data, and hands off to your team only when it truly matters.</a:t>
            </a:r>
          </a:p>
        </p:txBody>
      </p:sp>
      <p:sp>
        <p:nvSpPr>
          <p:cNvPr id="5" name="Oval 4"/>
          <p:cNvSpPr/>
          <p:nvPr/>
        </p:nvSpPr>
        <p:spPr>
          <a:xfrm>
            <a:off x="777240" y="3666744"/>
            <a:ext cx="146304" cy="146304"/>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611880"/>
            <a:ext cx="6035040" cy="457200"/>
          </a:xfrm>
          <a:prstGeom prst="rect">
            <a:avLst/>
          </a:prstGeom>
          <a:noFill/>
        </p:spPr>
        <p:txBody>
          <a:bodyPr wrap="square" anchor="t" lIns="0" rIns="0" tIns="0" bIns="0">
            <a:spAutoFit/>
          </a:bodyPr>
          <a:lstStyle/>
          <a:p>
            <a:pPr algn="l"/>
            <a:r>
              <a:rPr sz="1450" b="0" i="0">
                <a:solidFill>
                  <a:srgbClr val="FFFFFF"/>
                </a:solidFill>
                <a:latin typeface="Open Sans"/>
              </a:rPr>
              <a:t>Replies in under 2 seconds, 24/7</a:t>
            </a:r>
          </a:p>
        </p:txBody>
      </p:sp>
      <p:sp>
        <p:nvSpPr>
          <p:cNvPr id="7" name="Oval 6"/>
          <p:cNvSpPr/>
          <p:nvPr/>
        </p:nvSpPr>
        <p:spPr>
          <a:xfrm>
            <a:off x="777240" y="4233672"/>
            <a:ext cx="146304" cy="146304"/>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178808"/>
            <a:ext cx="6035040" cy="457200"/>
          </a:xfrm>
          <a:prstGeom prst="rect">
            <a:avLst/>
          </a:prstGeom>
          <a:noFill/>
        </p:spPr>
        <p:txBody>
          <a:bodyPr wrap="square" anchor="t" lIns="0" rIns="0" tIns="0" bIns="0">
            <a:spAutoFit/>
          </a:bodyPr>
          <a:lstStyle/>
          <a:p>
            <a:pPr algn="l"/>
            <a:r>
              <a:rPr sz="1450" b="0" i="0">
                <a:solidFill>
                  <a:srgbClr val="FFFFFF"/>
                </a:solidFill>
                <a:latin typeface="Open Sans"/>
              </a:rPr>
              <a:t>Speaks Egyptian Arabic, English &amp; Franco-Arabic natively</a:t>
            </a:r>
          </a:p>
        </p:txBody>
      </p:sp>
      <p:sp>
        <p:nvSpPr>
          <p:cNvPr id="9" name="Oval 8"/>
          <p:cNvSpPr/>
          <p:nvPr/>
        </p:nvSpPr>
        <p:spPr>
          <a:xfrm>
            <a:off x="777240" y="4800600"/>
            <a:ext cx="146304" cy="146304"/>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745736"/>
            <a:ext cx="6035040" cy="457200"/>
          </a:xfrm>
          <a:prstGeom prst="rect">
            <a:avLst/>
          </a:prstGeom>
          <a:noFill/>
        </p:spPr>
        <p:txBody>
          <a:bodyPr wrap="square" anchor="t" lIns="0" rIns="0" tIns="0" bIns="0">
            <a:spAutoFit/>
          </a:bodyPr>
          <a:lstStyle/>
          <a:p>
            <a:pPr algn="l"/>
            <a:r>
              <a:rPr sz="1450" b="0" i="0">
                <a:solidFill>
                  <a:srgbClr val="FFFFFF"/>
                </a:solidFill>
                <a:latin typeface="Open Sans"/>
              </a:rPr>
              <a:t>Pulls real Shopify orders &amp; catalog — no guessing</a:t>
            </a:r>
          </a:p>
        </p:txBody>
      </p:sp>
      <p:sp>
        <p:nvSpPr>
          <p:cNvPr id="11" name="Oval 10"/>
          <p:cNvSpPr/>
          <p:nvPr/>
        </p:nvSpPr>
        <p:spPr>
          <a:xfrm>
            <a:off x="777240" y="5367528"/>
            <a:ext cx="146304" cy="146304"/>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312664"/>
            <a:ext cx="6035040" cy="457200"/>
          </a:xfrm>
          <a:prstGeom prst="rect">
            <a:avLst/>
          </a:prstGeom>
          <a:noFill/>
        </p:spPr>
        <p:txBody>
          <a:bodyPr wrap="square" anchor="t" lIns="0" rIns="0" tIns="0" bIns="0">
            <a:spAutoFit/>
          </a:bodyPr>
          <a:lstStyle/>
          <a:p>
            <a:pPr algn="l"/>
            <a:r>
              <a:rPr sz="1450" b="0" i="0">
                <a:solidFill>
                  <a:srgbClr val="FFFFFF"/>
                </a:solidFill>
                <a:latin typeface="Open Sans"/>
              </a:rPr>
              <a:t>Lives inside your Shopify Admin — not another app to learn</a:t>
            </a:r>
          </a:p>
        </p:txBody>
      </p:sp>
      <p:sp>
        <p:nvSpPr>
          <p:cNvPr id="13" name="Rounded Rectangle 12"/>
          <p:cNvSpPr/>
          <p:nvPr/>
        </p:nvSpPr>
        <p:spPr>
          <a:xfrm>
            <a:off x="7818120" y="1143000"/>
            <a:ext cx="3749039" cy="4663440"/>
          </a:xfrm>
          <a:prstGeom prst="roundRect">
            <a:avLst>
              <a:gd name="adj" fmla="val 6000"/>
            </a:avLst>
          </a:prstGeom>
          <a:solidFill>
            <a:srgbClr val="080330">
              <a:alpha val="82000"/>
            </a:srgbClr>
          </a:solidFill>
          <a:ln w="12700">
            <a:solidFill>
              <a:srgbClr val="4466FF">
                <a:alpha val="45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818120" y="1143000"/>
            <a:ext cx="3749039" cy="713232"/>
          </a:xfrm>
          <a:prstGeom prst="roundRect">
            <a:avLst>
              <a:gd name="adj" fmla="val 6000"/>
            </a:avLst>
          </a:prstGeom>
          <a:solidFill>
            <a:srgbClr val="4466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o.png"/>
          <p:cNvPicPr>
            <a:picLocks noChangeAspect="1"/>
          </p:cNvPicPr>
          <p:nvPr/>
        </p:nvPicPr>
        <p:blipFill>
          <a:blip r:embed="rId3"/>
          <a:stretch>
            <a:fillRect/>
          </a:stretch>
        </p:blipFill>
        <p:spPr>
          <a:xfrm>
            <a:off x="8019288" y="1307592"/>
            <a:ext cx="545523" cy="384048"/>
          </a:xfrm>
          <a:prstGeom prst="rect">
            <a:avLst/>
          </a:prstGeom>
        </p:spPr>
      </p:pic>
      <p:sp>
        <p:nvSpPr>
          <p:cNvPr id="16" name="TextBox 15"/>
          <p:cNvSpPr txBox="1"/>
          <p:nvPr/>
        </p:nvSpPr>
        <p:spPr>
          <a:xfrm>
            <a:off x="8595360" y="1298448"/>
            <a:ext cx="2743200" cy="457200"/>
          </a:xfrm>
          <a:prstGeom prst="rect">
            <a:avLst/>
          </a:prstGeom>
          <a:noFill/>
        </p:spPr>
        <p:txBody>
          <a:bodyPr wrap="square" anchor="t" lIns="0" rIns="0" tIns="0" bIns="0">
            <a:spAutoFit/>
          </a:bodyPr>
          <a:lstStyle/>
          <a:p>
            <a:pPr algn="l">
              <a:spcAft>
                <a:spcPts val="0"/>
              </a:spcAft>
            </a:pPr>
            <a:r>
              <a:rPr sz="1300" b="1" i="0">
                <a:solidFill>
                  <a:srgbClr val="FFFFFF"/>
                </a:solidFill>
                <a:latin typeface="Sora"/>
              </a:rPr>
              <a:t>LUMA</a:t>
            </a:r>
          </a:p>
          <a:p>
            <a:pPr algn="l">
              <a:spcAft>
                <a:spcPts val="0"/>
              </a:spcAft>
            </a:pPr>
            <a:r>
              <a:rPr sz="900" b="0" i="0">
                <a:solidFill>
                  <a:srgbClr val="22C55E"/>
                </a:solidFill>
                <a:latin typeface="JetBrains Mono"/>
              </a:rPr>
              <a:t>● online</a:t>
            </a:r>
          </a:p>
        </p:txBody>
      </p:sp>
      <p:sp>
        <p:nvSpPr>
          <p:cNvPr id="17" name="Rounded Rectangle 16"/>
          <p:cNvSpPr/>
          <p:nvPr/>
        </p:nvSpPr>
        <p:spPr>
          <a:xfrm>
            <a:off x="8595360" y="2057400"/>
            <a:ext cx="2743200" cy="841248"/>
          </a:xfrm>
          <a:prstGeom prst="roundRect">
            <a:avLst>
              <a:gd name="adj" fmla="val 22000"/>
            </a:avLst>
          </a:prstGeom>
          <a:solidFill>
            <a:srgbClr val="020108">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050" b="0" i="0">
                <a:solidFill>
                  <a:srgbClr val="FFFFFF"/>
                </a:solidFill>
                <a:latin typeface="Open Sans"/>
              </a:rPr>
              <a:t>هل في الجاكيت الأسود مقاس M؟</a:t>
            </a:r>
          </a:p>
        </p:txBody>
      </p:sp>
      <p:sp>
        <p:nvSpPr>
          <p:cNvPr id="18" name="Rounded Rectangle 17"/>
          <p:cNvSpPr/>
          <p:nvPr/>
        </p:nvSpPr>
        <p:spPr>
          <a:xfrm>
            <a:off x="8595359" y="2990088"/>
            <a:ext cx="2743200" cy="841248"/>
          </a:xfrm>
          <a:prstGeom prst="roundRect">
            <a:avLst>
              <a:gd name="adj" fmla="val 22000"/>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050" b="0" i="0">
                <a:solidFill>
                  <a:srgbClr val="FFFFFF"/>
                </a:solidFill>
                <a:latin typeface="Open Sans"/>
              </a:rPr>
              <a:t>Yes! The black jacket is in stock in size M — EGP 1,250. Want me to reserve one? 🧥</a:t>
            </a:r>
          </a:p>
        </p:txBody>
      </p:sp>
      <p:sp>
        <p:nvSpPr>
          <p:cNvPr id="19" name="Rounded Rectangle 18"/>
          <p:cNvSpPr/>
          <p:nvPr/>
        </p:nvSpPr>
        <p:spPr>
          <a:xfrm>
            <a:off x="8595360" y="3922776"/>
            <a:ext cx="2743200" cy="841248"/>
          </a:xfrm>
          <a:prstGeom prst="roundRect">
            <a:avLst>
              <a:gd name="adj" fmla="val 22000"/>
            </a:avLst>
          </a:prstGeom>
          <a:solidFill>
            <a:srgbClr val="020108">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050" b="0" i="0">
                <a:solidFill>
                  <a:srgbClr val="FFFFFF"/>
                </a:solidFill>
                <a:latin typeface="Open Sans"/>
              </a:rPr>
              <a:t>Where’s my order #4521?</a:t>
            </a:r>
          </a:p>
        </p:txBody>
      </p:sp>
      <p:sp>
        <p:nvSpPr>
          <p:cNvPr id="20" name="Rounded Rectangle 19"/>
          <p:cNvSpPr/>
          <p:nvPr/>
        </p:nvSpPr>
        <p:spPr>
          <a:xfrm>
            <a:off x="8595359" y="4855464"/>
            <a:ext cx="2743200" cy="841248"/>
          </a:xfrm>
          <a:prstGeom prst="roundRect">
            <a:avLst>
              <a:gd name="adj" fmla="val 22000"/>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050" b="0" i="0">
                <a:solidFill>
                  <a:srgbClr val="FFFFFF"/>
                </a:solidFill>
                <a:latin typeface="Open Sans"/>
              </a:rPr>
              <a:t>Out for delivery today, arriving by 6 PM 📦</a:t>
            </a:r>
          </a:p>
        </p:txBody>
      </p:sp>
      <p:sp>
        <p:nvSpPr>
          <p:cNvPr id="21" name="Rounded Rectangle 20">
            <a:hlinkClick r:id="rId4"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22" name="TextBox 21"/>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04 / 13</a:t>
            </a:r>
          </a:p>
        </p:txBody>
      </p:sp>
    </p:spTree>
  </p:cSld>
  <p:clrMapOvr>
    <a:masterClrMapping/>
  </p:clrMapOvr>
  <p:transition spd="med">
    <p:cover dir="r"/>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64008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03 · HOW IT WORKS</a:t>
            </a:r>
          </a:p>
        </p:txBody>
      </p:sp>
      <p:sp>
        <p:nvSpPr>
          <p:cNvPr id="4" name="TextBox 3"/>
          <p:cNvSpPr txBox="1"/>
          <p:nvPr/>
        </p:nvSpPr>
        <p:spPr>
          <a:xfrm>
            <a:off x="731520" y="960120"/>
            <a:ext cx="10515600" cy="822960"/>
          </a:xfrm>
          <a:prstGeom prst="rect">
            <a:avLst/>
          </a:prstGeom>
          <a:noFill/>
        </p:spPr>
        <p:txBody>
          <a:bodyPr wrap="square" anchor="t" lIns="0" rIns="0" tIns="0" bIns="0">
            <a:spAutoFit/>
          </a:bodyPr>
          <a:lstStyle/>
          <a:p>
            <a:pPr algn="l"/>
            <a:r>
              <a:rPr sz="3400" b="1" i="0">
                <a:solidFill>
                  <a:srgbClr val="FFFFFF"/>
                </a:solidFill>
                <a:latin typeface="Sora"/>
              </a:rPr>
              <a:t>Three ways LUMA handles every message</a:t>
            </a:r>
          </a:p>
        </p:txBody>
      </p:sp>
      <p:sp>
        <p:nvSpPr>
          <p:cNvPr id="5" name="TextBox 4"/>
          <p:cNvSpPr txBox="1"/>
          <p:nvPr/>
        </p:nvSpPr>
        <p:spPr>
          <a:xfrm>
            <a:off x="731520" y="1600200"/>
            <a:ext cx="10515600" cy="457200"/>
          </a:xfrm>
          <a:prstGeom prst="rect">
            <a:avLst/>
          </a:prstGeom>
          <a:noFill/>
        </p:spPr>
        <p:txBody>
          <a:bodyPr wrap="square" anchor="t" lIns="0" rIns="0" tIns="0" bIns="0">
            <a:spAutoFit/>
          </a:bodyPr>
          <a:lstStyle/>
          <a:p>
            <a:pPr algn="l"/>
            <a:r>
              <a:rPr sz="1400" b="0" i="0">
                <a:solidFill>
                  <a:srgbClr val="B3C2E0"/>
                </a:solidFill>
                <a:latin typeface="Open Sans"/>
              </a:rPr>
              <a:t>Each message routes to the lightest path that solves it — keeping replies instant and costs low.</a:t>
            </a:r>
          </a:p>
        </p:txBody>
      </p:sp>
      <p:sp>
        <p:nvSpPr>
          <p:cNvPr id="6" name="Rounded Rectangle 5"/>
          <p:cNvSpPr/>
          <p:nvPr/>
        </p:nvSpPr>
        <p:spPr>
          <a:xfrm>
            <a:off x="731520" y="2286000"/>
            <a:ext cx="3611880" cy="3703320"/>
          </a:xfrm>
          <a:prstGeom prst="roundRect">
            <a:avLst>
              <a:gd name="adj" fmla="val 7000"/>
            </a:avLst>
          </a:prstGeom>
          <a:solidFill>
            <a:srgbClr val="080330">
              <a:alpha val="55000"/>
            </a:srgbClr>
          </a:solidFill>
          <a:ln w="11430">
            <a:solidFill>
              <a:srgbClr val="4466FF">
                <a:alpha val="5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05840" y="2560320"/>
            <a:ext cx="777240" cy="777240"/>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2400" b="0" i="0">
                <a:solidFill>
                  <a:srgbClr val="FFFFFF"/>
                </a:solidFill>
                <a:latin typeface="Open Sans"/>
              </a:rPr>
              <a:t>⚡</a:t>
            </a:r>
          </a:p>
        </p:txBody>
      </p:sp>
      <p:sp>
        <p:nvSpPr>
          <p:cNvPr id="8" name="TextBox 7"/>
          <p:cNvSpPr txBox="1"/>
          <p:nvPr/>
        </p:nvSpPr>
        <p:spPr>
          <a:xfrm>
            <a:off x="1005840" y="3474720"/>
            <a:ext cx="3063240" cy="1463040"/>
          </a:xfrm>
          <a:prstGeom prst="rect">
            <a:avLst/>
          </a:prstGeom>
          <a:noFill/>
        </p:spPr>
        <p:txBody>
          <a:bodyPr wrap="square" anchor="t" lIns="0" rIns="0" tIns="0" bIns="0">
            <a:spAutoFit/>
          </a:bodyPr>
          <a:lstStyle/>
          <a:p>
            <a:pPr algn="l">
              <a:lnSpc>
                <a:spcPct val="108000"/>
              </a:lnSpc>
              <a:spcAft>
                <a:spcPts val="400"/>
              </a:spcAft>
            </a:pPr>
            <a:r>
              <a:rPr sz="1200" b="1" i="0">
                <a:solidFill>
                  <a:srgbClr val="7AA8FF"/>
                </a:solidFill>
                <a:latin typeface="JetBrains Mono"/>
              </a:rPr>
              <a:t>01</a:t>
            </a:r>
          </a:p>
          <a:p>
            <a:pPr algn="l">
              <a:lnSpc>
                <a:spcPct val="108000"/>
              </a:lnSpc>
              <a:spcAft>
                <a:spcPts val="400"/>
              </a:spcAft>
            </a:pPr>
            <a:r>
              <a:rPr sz="2000" b="1" i="0">
                <a:solidFill>
                  <a:srgbClr val="FFFFFF"/>
                </a:solidFill>
                <a:latin typeface="Sora"/>
              </a:rPr>
              <a:t>Instant answer</a:t>
            </a:r>
          </a:p>
          <a:p>
            <a:pPr algn="l">
              <a:lnSpc>
                <a:spcPct val="108000"/>
              </a:lnSpc>
              <a:spcAft>
                <a:spcPts val="400"/>
              </a:spcAft>
            </a:pPr>
            <a:r>
              <a:rPr sz="1200" b="0" i="0">
                <a:solidFill>
                  <a:srgbClr val="B3C2E0"/>
                </a:solidFill>
                <a:latin typeface="Open Sans"/>
              </a:rPr>
              <a:t>Greetings, thank-yous and duplicate pings are caught by a mechanical pre-filter — zero AI cost.</a:t>
            </a:r>
          </a:p>
        </p:txBody>
      </p:sp>
      <p:sp>
        <p:nvSpPr>
          <p:cNvPr id="9" name="Rounded Rectangle 8"/>
          <p:cNvSpPr/>
          <p:nvPr/>
        </p:nvSpPr>
        <p:spPr>
          <a:xfrm>
            <a:off x="1005840" y="4983480"/>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“Hey 👋”</a:t>
            </a:r>
          </a:p>
        </p:txBody>
      </p:sp>
      <p:sp>
        <p:nvSpPr>
          <p:cNvPr id="10" name="Rounded Rectangle 9"/>
          <p:cNvSpPr/>
          <p:nvPr/>
        </p:nvSpPr>
        <p:spPr>
          <a:xfrm>
            <a:off x="1005840" y="5321808"/>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“شكراً 🙏”</a:t>
            </a:r>
          </a:p>
        </p:txBody>
      </p:sp>
      <p:sp>
        <p:nvSpPr>
          <p:cNvPr id="11" name="Rounded Rectangle 10"/>
          <p:cNvSpPr/>
          <p:nvPr/>
        </p:nvSpPr>
        <p:spPr>
          <a:xfrm>
            <a:off x="1005840" y="5660136"/>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“Where’s order #4521?”</a:t>
            </a:r>
          </a:p>
        </p:txBody>
      </p:sp>
      <p:sp>
        <p:nvSpPr>
          <p:cNvPr id="12" name="Rounded Rectangle 11"/>
          <p:cNvSpPr/>
          <p:nvPr/>
        </p:nvSpPr>
        <p:spPr>
          <a:xfrm>
            <a:off x="4590288" y="2286000"/>
            <a:ext cx="3611880" cy="3703320"/>
          </a:xfrm>
          <a:prstGeom prst="roundRect">
            <a:avLst>
              <a:gd name="adj" fmla="val 7000"/>
            </a:avLst>
          </a:prstGeom>
          <a:solidFill>
            <a:srgbClr val="080330">
              <a:alpha val="55000"/>
            </a:srgbClr>
          </a:solidFill>
          <a:ln w="11430">
            <a:solidFill>
              <a:srgbClr val="4466FF">
                <a:alpha val="5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64608" y="2560320"/>
            <a:ext cx="777240" cy="777240"/>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2400" b="0" i="0">
                <a:solidFill>
                  <a:srgbClr val="FFFFFF"/>
                </a:solidFill>
                <a:latin typeface="Open Sans"/>
              </a:rPr>
              <a:t>🧠</a:t>
            </a:r>
          </a:p>
        </p:txBody>
      </p:sp>
      <p:sp>
        <p:nvSpPr>
          <p:cNvPr id="14" name="TextBox 13"/>
          <p:cNvSpPr txBox="1"/>
          <p:nvPr/>
        </p:nvSpPr>
        <p:spPr>
          <a:xfrm>
            <a:off x="4864608" y="3474720"/>
            <a:ext cx="3063240" cy="1463040"/>
          </a:xfrm>
          <a:prstGeom prst="rect">
            <a:avLst/>
          </a:prstGeom>
          <a:noFill/>
        </p:spPr>
        <p:txBody>
          <a:bodyPr wrap="square" anchor="t" lIns="0" rIns="0" tIns="0" bIns="0">
            <a:spAutoFit/>
          </a:bodyPr>
          <a:lstStyle/>
          <a:p>
            <a:pPr algn="l">
              <a:lnSpc>
                <a:spcPct val="108000"/>
              </a:lnSpc>
              <a:spcAft>
                <a:spcPts val="400"/>
              </a:spcAft>
            </a:pPr>
            <a:r>
              <a:rPr sz="1200" b="1" i="0">
                <a:solidFill>
                  <a:srgbClr val="7AA8FF"/>
                </a:solidFill>
                <a:latin typeface="JetBrains Mono"/>
              </a:rPr>
              <a:t>02</a:t>
            </a:r>
          </a:p>
          <a:p>
            <a:pPr algn="l">
              <a:lnSpc>
                <a:spcPct val="108000"/>
              </a:lnSpc>
              <a:spcAft>
                <a:spcPts val="400"/>
              </a:spcAft>
            </a:pPr>
            <a:r>
              <a:rPr sz="2000" b="1" i="0">
                <a:solidFill>
                  <a:srgbClr val="FFFFFF"/>
                </a:solidFill>
                <a:latin typeface="Sora"/>
              </a:rPr>
              <a:t>Smart reply</a:t>
            </a:r>
          </a:p>
          <a:p>
            <a:pPr algn="l">
              <a:lnSpc>
                <a:spcPct val="108000"/>
              </a:lnSpc>
              <a:spcAft>
                <a:spcPts val="400"/>
              </a:spcAft>
            </a:pPr>
            <a:r>
              <a:rPr sz="1200" b="0" i="0">
                <a:solidFill>
                  <a:srgbClr val="B3C2E0"/>
                </a:solidFill>
                <a:latin typeface="Open Sans"/>
              </a:rPr>
              <a:t>Real product questions trigger an AI search across your live catalog &amp; knowledge base, answered in-language.</a:t>
            </a:r>
          </a:p>
        </p:txBody>
      </p:sp>
      <p:sp>
        <p:nvSpPr>
          <p:cNvPr id="15" name="Rounded Rectangle 14"/>
          <p:cNvSpPr/>
          <p:nvPr/>
        </p:nvSpPr>
        <p:spPr>
          <a:xfrm>
            <a:off x="4864608" y="4983480"/>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“Is the black jacket in M?”</a:t>
            </a:r>
          </a:p>
        </p:txBody>
      </p:sp>
      <p:sp>
        <p:nvSpPr>
          <p:cNvPr id="16" name="Rounded Rectangle 15"/>
          <p:cNvSpPr/>
          <p:nvPr/>
        </p:nvSpPr>
        <p:spPr>
          <a:xfrm>
            <a:off x="4864608" y="5321808"/>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“Do you ship to Alexandria?”</a:t>
            </a:r>
          </a:p>
        </p:txBody>
      </p:sp>
      <p:sp>
        <p:nvSpPr>
          <p:cNvPr id="17" name="Rounded Rectangle 16"/>
          <p:cNvSpPr/>
          <p:nvPr/>
        </p:nvSpPr>
        <p:spPr>
          <a:xfrm>
            <a:off x="4864608" y="5660136"/>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“What’s the return policy?”</a:t>
            </a:r>
          </a:p>
        </p:txBody>
      </p:sp>
      <p:sp>
        <p:nvSpPr>
          <p:cNvPr id="18" name="Rounded Rectangle 17"/>
          <p:cNvSpPr/>
          <p:nvPr/>
        </p:nvSpPr>
        <p:spPr>
          <a:xfrm>
            <a:off x="8449056" y="2286000"/>
            <a:ext cx="3611880" cy="3703320"/>
          </a:xfrm>
          <a:prstGeom prst="roundRect">
            <a:avLst>
              <a:gd name="adj" fmla="val 7000"/>
            </a:avLst>
          </a:prstGeom>
          <a:solidFill>
            <a:srgbClr val="080330">
              <a:alpha val="55000"/>
            </a:srgbClr>
          </a:solidFill>
          <a:ln w="11430">
            <a:solidFill>
              <a:srgbClr val="4466FF">
                <a:alpha val="5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23376" y="2560320"/>
            <a:ext cx="777240" cy="777240"/>
          </a:xfrm>
          <a:prstGeom prst="ellipse">
            <a:avLst/>
          </a:prstGeom>
          <a:solidFill>
            <a:srgbClr val="446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2400" b="0" i="0">
                <a:solidFill>
                  <a:srgbClr val="FFFFFF"/>
                </a:solidFill>
                <a:latin typeface="Open Sans"/>
              </a:rPr>
              <a:t>🤝</a:t>
            </a:r>
          </a:p>
        </p:txBody>
      </p:sp>
      <p:sp>
        <p:nvSpPr>
          <p:cNvPr id="20" name="TextBox 19"/>
          <p:cNvSpPr txBox="1"/>
          <p:nvPr/>
        </p:nvSpPr>
        <p:spPr>
          <a:xfrm>
            <a:off x="8723376" y="3474720"/>
            <a:ext cx="3063240" cy="1463040"/>
          </a:xfrm>
          <a:prstGeom prst="rect">
            <a:avLst/>
          </a:prstGeom>
          <a:noFill/>
        </p:spPr>
        <p:txBody>
          <a:bodyPr wrap="square" anchor="t" lIns="0" rIns="0" tIns="0" bIns="0">
            <a:spAutoFit/>
          </a:bodyPr>
          <a:lstStyle/>
          <a:p>
            <a:pPr algn="l">
              <a:lnSpc>
                <a:spcPct val="108000"/>
              </a:lnSpc>
              <a:spcAft>
                <a:spcPts val="400"/>
              </a:spcAft>
            </a:pPr>
            <a:r>
              <a:rPr sz="1200" b="1" i="0">
                <a:solidFill>
                  <a:srgbClr val="7AA8FF"/>
                </a:solidFill>
                <a:latin typeface="JetBrains Mono"/>
              </a:rPr>
              <a:t>03</a:t>
            </a:r>
          </a:p>
          <a:p>
            <a:pPr algn="l">
              <a:lnSpc>
                <a:spcPct val="108000"/>
              </a:lnSpc>
              <a:spcAft>
                <a:spcPts val="400"/>
              </a:spcAft>
            </a:pPr>
            <a:r>
              <a:rPr sz="2000" b="1" i="0">
                <a:solidFill>
                  <a:srgbClr val="FFFFFF"/>
                </a:solidFill>
                <a:latin typeface="Sora"/>
              </a:rPr>
              <a:t>Graceful handoff</a:t>
            </a:r>
          </a:p>
          <a:p>
            <a:pPr algn="l">
              <a:lnSpc>
                <a:spcPct val="108000"/>
              </a:lnSpc>
              <a:spcAft>
                <a:spcPts val="400"/>
              </a:spcAft>
            </a:pPr>
            <a:r>
              <a:rPr sz="1200" b="0" i="0">
                <a:solidFill>
                  <a:srgbClr val="B3C2E0"/>
                </a:solidFill>
                <a:latin typeface="Open Sans"/>
              </a:rPr>
              <a:t>Low confidence or a complaint? LUMA acknowledges the customer and opens a ticket for your team.</a:t>
            </a:r>
          </a:p>
        </p:txBody>
      </p:sp>
      <p:sp>
        <p:nvSpPr>
          <p:cNvPr id="21" name="Rounded Rectangle 20"/>
          <p:cNvSpPr/>
          <p:nvPr/>
        </p:nvSpPr>
        <p:spPr>
          <a:xfrm>
            <a:off x="8723376" y="4983480"/>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“I want a human”</a:t>
            </a:r>
          </a:p>
        </p:txBody>
      </p:sp>
      <p:sp>
        <p:nvSpPr>
          <p:cNvPr id="22" name="Rounded Rectangle 21"/>
          <p:cNvSpPr/>
          <p:nvPr/>
        </p:nvSpPr>
        <p:spPr>
          <a:xfrm>
            <a:off x="8723376" y="5321808"/>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“This ripped after one wear”</a:t>
            </a:r>
          </a:p>
        </p:txBody>
      </p:sp>
      <p:sp>
        <p:nvSpPr>
          <p:cNvPr id="23" name="Rounded Rectangle 22"/>
          <p:cNvSpPr/>
          <p:nvPr/>
        </p:nvSpPr>
        <p:spPr>
          <a:xfrm>
            <a:off x="8723376" y="5660136"/>
            <a:ext cx="3063240" cy="292608"/>
          </a:xfrm>
          <a:prstGeom prst="roundRect">
            <a:avLst>
              <a:gd name="adj" fmla="val 50000"/>
            </a:avLst>
          </a:prstGeom>
          <a:solidFill>
            <a:srgbClr val="020108">
              <a:alpha val="60000"/>
            </a:srgbClr>
          </a:solidFill>
          <a:ln w="6350">
            <a:solidFill>
              <a:srgbClr val="4466FF">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950" b="0" i="0">
                <a:solidFill>
                  <a:srgbClr val="B3CCFF"/>
                </a:solidFill>
                <a:latin typeface="JetBrains Mono"/>
              </a:rPr>
              <a:t>“I’m not happy”</a:t>
            </a:r>
          </a:p>
        </p:txBody>
      </p:sp>
      <p:sp>
        <p:nvSpPr>
          <p:cNvPr id="24" name="Rounded Rectangle 23">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25" name="TextBox 24"/>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05 / 13</a:t>
            </a:r>
          </a:p>
        </p:txBody>
      </p:sp>
    </p:spTree>
  </p:cSld>
  <p:clrMapOvr>
    <a:masterClrMapping/>
  </p:clrMapOvr>
  <p:transition spd="med">
    <p:split orient="vert" dir="out"/>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777240"/>
            <a:ext cx="7315200" cy="365760"/>
          </a:xfrm>
          <a:prstGeom prst="rect">
            <a:avLst/>
          </a:prstGeom>
          <a:noFill/>
        </p:spPr>
        <p:txBody>
          <a:bodyPr wrap="square" anchor="t" lIns="0" rIns="0" tIns="0" bIns="0">
            <a:spAutoFit/>
          </a:bodyPr>
          <a:lstStyle/>
          <a:p>
            <a:pPr algn="l"/>
            <a:r>
              <a:rPr sz="1250" b="1" i="0" spc="260">
                <a:solidFill>
                  <a:srgbClr val="4466FF"/>
                </a:solidFill>
                <a:latin typeface="JetBrains Mono"/>
              </a:rPr>
              <a:t>04 · ONBOARDING</a:t>
            </a:r>
          </a:p>
        </p:txBody>
      </p:sp>
      <p:sp>
        <p:nvSpPr>
          <p:cNvPr id="4" name="TextBox 3"/>
          <p:cNvSpPr txBox="1"/>
          <p:nvPr/>
        </p:nvSpPr>
        <p:spPr>
          <a:xfrm>
            <a:off x="731520" y="1143000"/>
            <a:ext cx="10515600" cy="914400"/>
          </a:xfrm>
          <a:prstGeom prst="rect">
            <a:avLst/>
          </a:prstGeom>
          <a:noFill/>
        </p:spPr>
        <p:txBody>
          <a:bodyPr wrap="square" anchor="t" lIns="0" rIns="0" tIns="0" bIns="0">
            <a:spAutoFit/>
          </a:bodyPr>
          <a:lstStyle/>
          <a:p>
            <a:pPr algn="l"/>
            <a:r>
              <a:rPr sz="3800" b="1" i="0">
                <a:solidFill>
                  <a:srgbClr val="0A0A2E"/>
                </a:solidFill>
                <a:latin typeface="Sora"/>
              </a:rPr>
              <a:t>Live in an afternoon — </a:t>
            </a:r>
            <a:r>
              <a:rPr sz="3800" b="1" i="0">
                <a:solidFill>
                  <a:srgbClr val="4466FF"/>
                </a:solidFill>
                <a:latin typeface="Sora"/>
              </a:rPr>
              <a:t>no code, no new app</a:t>
            </a:r>
          </a:p>
        </p:txBody>
      </p:sp>
      <p:sp>
        <p:nvSpPr>
          <p:cNvPr id="5" name="Rounded Rectangle 4"/>
          <p:cNvSpPr/>
          <p:nvPr/>
        </p:nvSpPr>
        <p:spPr>
          <a:xfrm>
            <a:off x="731520" y="2743200"/>
            <a:ext cx="3520440" cy="2834640"/>
          </a:xfrm>
          <a:prstGeom prst="roundRect">
            <a:avLst>
              <a:gd name="adj" fmla="val 8000"/>
            </a:avLst>
          </a:prstGeom>
          <a:solidFill>
            <a:srgbClr val="FFFFFF"/>
          </a:solidFill>
          <a:ln w="12700">
            <a:solidFill>
              <a:srgbClr val="4466FF">
                <a:alpha val="2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 y="3108960"/>
            <a:ext cx="914400" cy="914400"/>
          </a:xfrm>
          <a:prstGeom prst="ellipse">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3400" b="1" i="0">
                <a:solidFill>
                  <a:srgbClr val="FFFFFF"/>
                </a:solidFill>
                <a:latin typeface="Sora"/>
              </a:rPr>
              <a:t>1</a:t>
            </a:r>
          </a:p>
        </p:txBody>
      </p:sp>
      <p:sp>
        <p:nvSpPr>
          <p:cNvPr id="7" name="TextBox 6"/>
          <p:cNvSpPr txBox="1"/>
          <p:nvPr/>
        </p:nvSpPr>
        <p:spPr>
          <a:xfrm>
            <a:off x="1051560" y="4251960"/>
            <a:ext cx="2880360" cy="1280160"/>
          </a:xfrm>
          <a:prstGeom prst="rect">
            <a:avLst/>
          </a:prstGeom>
          <a:noFill/>
        </p:spPr>
        <p:txBody>
          <a:bodyPr wrap="square" anchor="t" lIns="0" rIns="0" tIns="0" bIns="0">
            <a:spAutoFit/>
          </a:bodyPr>
          <a:lstStyle/>
          <a:p>
            <a:pPr algn="l">
              <a:lnSpc>
                <a:spcPct val="110000"/>
              </a:lnSpc>
              <a:spcAft>
                <a:spcPts val="600"/>
              </a:spcAft>
            </a:pPr>
            <a:r>
              <a:rPr sz="2200" b="1" i="0">
                <a:solidFill>
                  <a:srgbClr val="0A0A2E"/>
                </a:solidFill>
                <a:latin typeface="Sora"/>
              </a:rPr>
              <a:t>Connect</a:t>
            </a:r>
          </a:p>
          <a:p>
            <a:pPr algn="l">
              <a:lnSpc>
                <a:spcPct val="110000"/>
              </a:lnSpc>
              <a:spcAft>
                <a:spcPts val="600"/>
              </a:spcAft>
            </a:pPr>
            <a:r>
              <a:rPr sz="1250" b="0" i="0">
                <a:solidFill>
                  <a:srgbClr val="556080"/>
                </a:solidFill>
                <a:latin typeface="Open Sans"/>
              </a:rPr>
              <a:t>Install from Shopify, link your Instagram Business account. Your catalog syncs automatically.</a:t>
            </a:r>
          </a:p>
        </p:txBody>
      </p:sp>
      <p:sp>
        <p:nvSpPr>
          <p:cNvPr id="8" name="TextBox 7"/>
          <p:cNvSpPr txBox="1"/>
          <p:nvPr/>
        </p:nvSpPr>
        <p:spPr>
          <a:xfrm>
            <a:off x="4206240" y="3794760"/>
            <a:ext cx="457200" cy="548640"/>
          </a:xfrm>
          <a:prstGeom prst="rect">
            <a:avLst/>
          </a:prstGeom>
          <a:noFill/>
        </p:spPr>
        <p:txBody>
          <a:bodyPr wrap="square" anchor="t" lIns="0" rIns="0" tIns="0" bIns="0">
            <a:spAutoFit/>
          </a:bodyPr>
          <a:lstStyle/>
          <a:p>
            <a:pPr algn="ctr"/>
            <a:r>
              <a:rPr sz="3000" b="1" i="0">
                <a:solidFill>
                  <a:srgbClr val="7AA8FF"/>
                </a:solidFill>
                <a:latin typeface="Sora"/>
              </a:rPr>
              <a:t>→</a:t>
            </a:r>
          </a:p>
        </p:txBody>
      </p:sp>
      <p:sp>
        <p:nvSpPr>
          <p:cNvPr id="9" name="Rounded Rectangle 8"/>
          <p:cNvSpPr/>
          <p:nvPr/>
        </p:nvSpPr>
        <p:spPr>
          <a:xfrm>
            <a:off x="4617720" y="2743200"/>
            <a:ext cx="3520440" cy="2834640"/>
          </a:xfrm>
          <a:prstGeom prst="roundRect">
            <a:avLst>
              <a:gd name="adj" fmla="val 8000"/>
            </a:avLst>
          </a:prstGeom>
          <a:solidFill>
            <a:srgbClr val="FFFFFF"/>
          </a:solidFill>
          <a:ln w="12700">
            <a:solidFill>
              <a:srgbClr val="4466FF">
                <a:alpha val="2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37760" y="3108960"/>
            <a:ext cx="914400" cy="914400"/>
          </a:xfrm>
          <a:prstGeom prst="ellipse">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3400" b="1" i="0">
                <a:solidFill>
                  <a:srgbClr val="FFFFFF"/>
                </a:solidFill>
                <a:latin typeface="Sora"/>
              </a:rPr>
              <a:t>2</a:t>
            </a:r>
          </a:p>
        </p:txBody>
      </p:sp>
      <p:sp>
        <p:nvSpPr>
          <p:cNvPr id="11" name="TextBox 10"/>
          <p:cNvSpPr txBox="1"/>
          <p:nvPr/>
        </p:nvSpPr>
        <p:spPr>
          <a:xfrm>
            <a:off x="4937760" y="4251960"/>
            <a:ext cx="2880360" cy="1280160"/>
          </a:xfrm>
          <a:prstGeom prst="rect">
            <a:avLst/>
          </a:prstGeom>
          <a:noFill/>
        </p:spPr>
        <p:txBody>
          <a:bodyPr wrap="square" anchor="t" lIns="0" rIns="0" tIns="0" bIns="0">
            <a:spAutoFit/>
          </a:bodyPr>
          <a:lstStyle/>
          <a:p>
            <a:pPr algn="l">
              <a:lnSpc>
                <a:spcPct val="110000"/>
              </a:lnSpc>
              <a:spcAft>
                <a:spcPts val="600"/>
              </a:spcAft>
            </a:pPr>
            <a:r>
              <a:rPr sz="2200" b="1" i="0">
                <a:solidFill>
                  <a:srgbClr val="0A0A2E"/>
                </a:solidFill>
                <a:latin typeface="Sora"/>
              </a:rPr>
              <a:t>Teach</a:t>
            </a:r>
          </a:p>
          <a:p>
            <a:pPr algn="l">
              <a:lnSpc>
                <a:spcPct val="110000"/>
              </a:lnSpc>
              <a:spcAft>
                <a:spcPts val="600"/>
              </a:spcAft>
            </a:pPr>
            <a:r>
              <a:rPr sz="1250" b="0" i="0">
                <a:solidFill>
                  <a:srgbClr val="556080"/>
                </a:solidFill>
                <a:latin typeface="Open Sans"/>
              </a:rPr>
              <a:t>Set your bot’s tone, auto-reply templates, escalation rules, business hours &amp; product facts — once.</a:t>
            </a:r>
          </a:p>
        </p:txBody>
      </p:sp>
      <p:sp>
        <p:nvSpPr>
          <p:cNvPr id="12" name="TextBox 11"/>
          <p:cNvSpPr txBox="1"/>
          <p:nvPr/>
        </p:nvSpPr>
        <p:spPr>
          <a:xfrm>
            <a:off x="8092440" y="3794760"/>
            <a:ext cx="457200" cy="548640"/>
          </a:xfrm>
          <a:prstGeom prst="rect">
            <a:avLst/>
          </a:prstGeom>
          <a:noFill/>
        </p:spPr>
        <p:txBody>
          <a:bodyPr wrap="square" anchor="t" lIns="0" rIns="0" tIns="0" bIns="0">
            <a:spAutoFit/>
          </a:bodyPr>
          <a:lstStyle/>
          <a:p>
            <a:pPr algn="ctr"/>
            <a:r>
              <a:rPr sz="3000" b="1" i="0">
                <a:solidFill>
                  <a:srgbClr val="7AA8FF"/>
                </a:solidFill>
                <a:latin typeface="Sora"/>
              </a:rPr>
              <a:t>→</a:t>
            </a:r>
          </a:p>
        </p:txBody>
      </p:sp>
      <p:sp>
        <p:nvSpPr>
          <p:cNvPr id="13" name="Rounded Rectangle 12"/>
          <p:cNvSpPr/>
          <p:nvPr/>
        </p:nvSpPr>
        <p:spPr>
          <a:xfrm>
            <a:off x="8503920" y="2743200"/>
            <a:ext cx="3520440" cy="2834640"/>
          </a:xfrm>
          <a:prstGeom prst="roundRect">
            <a:avLst>
              <a:gd name="adj" fmla="val 8000"/>
            </a:avLst>
          </a:prstGeom>
          <a:solidFill>
            <a:srgbClr val="FFFFFF"/>
          </a:solidFill>
          <a:ln w="12700">
            <a:solidFill>
              <a:srgbClr val="4466FF">
                <a:alpha val="20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823960" y="3108960"/>
            <a:ext cx="914400" cy="914400"/>
          </a:xfrm>
          <a:prstGeom prst="ellipse">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3400" b="1" i="0">
                <a:solidFill>
                  <a:srgbClr val="FFFFFF"/>
                </a:solidFill>
                <a:latin typeface="Sora"/>
              </a:rPr>
              <a:t>3</a:t>
            </a:r>
          </a:p>
        </p:txBody>
      </p:sp>
      <p:sp>
        <p:nvSpPr>
          <p:cNvPr id="15" name="TextBox 14"/>
          <p:cNvSpPr txBox="1"/>
          <p:nvPr/>
        </p:nvSpPr>
        <p:spPr>
          <a:xfrm>
            <a:off x="8823960" y="4251960"/>
            <a:ext cx="2880360" cy="1280160"/>
          </a:xfrm>
          <a:prstGeom prst="rect">
            <a:avLst/>
          </a:prstGeom>
          <a:noFill/>
        </p:spPr>
        <p:txBody>
          <a:bodyPr wrap="square" anchor="t" lIns="0" rIns="0" tIns="0" bIns="0">
            <a:spAutoFit/>
          </a:bodyPr>
          <a:lstStyle/>
          <a:p>
            <a:pPr algn="l">
              <a:lnSpc>
                <a:spcPct val="110000"/>
              </a:lnSpc>
              <a:spcAft>
                <a:spcPts val="600"/>
              </a:spcAft>
            </a:pPr>
            <a:r>
              <a:rPr sz="2200" b="1" i="0">
                <a:solidFill>
                  <a:srgbClr val="0A0A2E"/>
                </a:solidFill>
                <a:latin typeface="Sora"/>
              </a:rPr>
              <a:t>Go live</a:t>
            </a:r>
          </a:p>
          <a:p>
            <a:pPr algn="l">
              <a:lnSpc>
                <a:spcPct val="110000"/>
              </a:lnSpc>
              <a:spcAft>
                <a:spcPts val="600"/>
              </a:spcAft>
            </a:pPr>
            <a:r>
              <a:rPr sz="1250" b="0" i="0">
                <a:solidFill>
                  <a:srgbClr val="556080"/>
                </a:solidFill>
                <a:latin typeface="Open Sans"/>
              </a:rPr>
              <a:t>Watch conversations in real time inside Shopify Admin and jump into any thread whenever you want.</a:t>
            </a:r>
          </a:p>
        </p:txBody>
      </p:sp>
      <p:sp>
        <p:nvSpPr>
          <p:cNvPr id="16" name="Rounded Rectangle 15">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17" name="TextBox 16"/>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556080"/>
                </a:solidFill>
                <a:latin typeface="JetBrains Mono"/>
              </a:rPr>
              <a:t>06 / 13</a:t>
            </a:r>
          </a:p>
        </p:txBody>
      </p:sp>
    </p:spTree>
  </p:cSld>
  <p:clrMapOvr>
    <a:masterClrMapping/>
  </p:clrMapOvr>
  <p:transition spd="med">
    <p:push dir="l"/>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54864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05 · FEATURE SET</a:t>
            </a:r>
          </a:p>
        </p:txBody>
      </p:sp>
      <p:sp>
        <p:nvSpPr>
          <p:cNvPr id="4" name="TextBox 3"/>
          <p:cNvSpPr txBox="1"/>
          <p:nvPr/>
        </p:nvSpPr>
        <p:spPr>
          <a:xfrm>
            <a:off x="731520" y="868680"/>
            <a:ext cx="10515600" cy="731520"/>
          </a:xfrm>
          <a:prstGeom prst="rect">
            <a:avLst/>
          </a:prstGeom>
          <a:noFill/>
        </p:spPr>
        <p:txBody>
          <a:bodyPr wrap="square" anchor="t" lIns="0" rIns="0" tIns="0" bIns="0">
            <a:spAutoFit/>
          </a:bodyPr>
          <a:lstStyle/>
          <a:p>
            <a:pPr algn="l"/>
            <a:r>
              <a:rPr sz="3300" b="1" i="0">
                <a:solidFill>
                  <a:srgbClr val="FFFFFF"/>
                </a:solidFill>
                <a:latin typeface="Sora"/>
              </a:rPr>
              <a:t>Everything your inbox needs, in one place</a:t>
            </a:r>
          </a:p>
        </p:txBody>
      </p:sp>
      <p:sp>
        <p:nvSpPr>
          <p:cNvPr id="5" name="Rounded Rectangle 4"/>
          <p:cNvSpPr/>
          <p:nvPr/>
        </p:nvSpPr>
        <p:spPr>
          <a:xfrm>
            <a:off x="731520" y="178308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96596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7" name="TextBox 6"/>
          <p:cNvSpPr txBox="1"/>
          <p:nvPr/>
        </p:nvSpPr>
        <p:spPr>
          <a:xfrm>
            <a:off x="987552" y="244144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Unified inbox</a:t>
            </a:r>
          </a:p>
          <a:p>
            <a:pPr algn="l">
              <a:lnSpc>
                <a:spcPct val="100000"/>
              </a:lnSpc>
              <a:spcAft>
                <a:spcPts val="200"/>
              </a:spcAft>
            </a:pPr>
            <a:r>
              <a:rPr sz="1050" b="0" i="0">
                <a:solidFill>
                  <a:srgbClr val="B3C2E0"/>
                </a:solidFill>
                <a:latin typeface="Open Sans"/>
              </a:rPr>
              <a:t>Instagram DMs + Shopify chat in one queue</a:t>
            </a:r>
          </a:p>
        </p:txBody>
      </p:sp>
      <p:sp>
        <p:nvSpPr>
          <p:cNvPr id="8" name="Rounded Rectangle 7"/>
          <p:cNvSpPr/>
          <p:nvPr/>
        </p:nvSpPr>
        <p:spPr>
          <a:xfrm>
            <a:off x="4544568" y="178308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96596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10" name="TextBox 9"/>
          <p:cNvSpPr txBox="1"/>
          <p:nvPr/>
        </p:nvSpPr>
        <p:spPr>
          <a:xfrm>
            <a:off x="4800600" y="244144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Native trilingual</a:t>
            </a:r>
          </a:p>
          <a:p>
            <a:pPr algn="l">
              <a:lnSpc>
                <a:spcPct val="100000"/>
              </a:lnSpc>
              <a:spcAft>
                <a:spcPts val="200"/>
              </a:spcAft>
            </a:pPr>
            <a:r>
              <a:rPr sz="1050" b="0" i="0">
                <a:solidFill>
                  <a:srgbClr val="B3C2E0"/>
                </a:solidFill>
                <a:latin typeface="Open Sans"/>
              </a:rPr>
              <a:t>Arabic, English &amp; Franco-Arabic per message</a:t>
            </a:r>
          </a:p>
        </p:txBody>
      </p:sp>
      <p:sp>
        <p:nvSpPr>
          <p:cNvPr id="11" name="Rounded Rectangle 10"/>
          <p:cNvSpPr/>
          <p:nvPr/>
        </p:nvSpPr>
        <p:spPr>
          <a:xfrm>
            <a:off x="8357616" y="178308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13648" y="196596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13" name="TextBox 12"/>
          <p:cNvSpPr txBox="1"/>
          <p:nvPr/>
        </p:nvSpPr>
        <p:spPr>
          <a:xfrm>
            <a:off x="8613648" y="244144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Live order tracking</a:t>
            </a:r>
          </a:p>
          <a:p>
            <a:pPr algn="l">
              <a:lnSpc>
                <a:spcPct val="100000"/>
              </a:lnSpc>
              <a:spcAft>
                <a:spcPts val="200"/>
              </a:spcAft>
            </a:pPr>
            <a:r>
              <a:rPr sz="1050" b="0" i="0">
                <a:solidFill>
                  <a:srgbClr val="B3C2E0"/>
                </a:solidFill>
                <a:latin typeface="Open Sans"/>
              </a:rPr>
              <a:t>Real Shopify order data, zero hallucination</a:t>
            </a:r>
          </a:p>
        </p:txBody>
      </p:sp>
      <p:sp>
        <p:nvSpPr>
          <p:cNvPr id="14" name="Rounded Rectangle 13"/>
          <p:cNvSpPr/>
          <p:nvPr/>
        </p:nvSpPr>
        <p:spPr>
          <a:xfrm>
            <a:off x="731520" y="347472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365760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16" name="TextBox 15"/>
          <p:cNvSpPr txBox="1"/>
          <p:nvPr/>
        </p:nvSpPr>
        <p:spPr>
          <a:xfrm>
            <a:off x="987552" y="413308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Smart pre-filter</a:t>
            </a:r>
          </a:p>
          <a:p>
            <a:pPr algn="l">
              <a:lnSpc>
                <a:spcPct val="100000"/>
              </a:lnSpc>
              <a:spcAft>
                <a:spcPts val="200"/>
              </a:spcAft>
            </a:pPr>
            <a:r>
              <a:rPr sz="1050" b="0" i="0">
                <a:solidFill>
                  <a:srgbClr val="B3C2E0"/>
                </a:solidFill>
                <a:latin typeface="Open Sans"/>
              </a:rPr>
              <a:t>Mechanical checks before any AI is called</a:t>
            </a:r>
          </a:p>
        </p:txBody>
      </p:sp>
      <p:sp>
        <p:nvSpPr>
          <p:cNvPr id="17" name="Rounded Rectangle 16"/>
          <p:cNvSpPr/>
          <p:nvPr/>
        </p:nvSpPr>
        <p:spPr>
          <a:xfrm>
            <a:off x="4544568" y="347472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365760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19" name="TextBox 18"/>
          <p:cNvSpPr txBox="1"/>
          <p:nvPr/>
        </p:nvSpPr>
        <p:spPr>
          <a:xfrm>
            <a:off x="4800600" y="413308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Confidence scoring</a:t>
            </a:r>
          </a:p>
          <a:p>
            <a:pPr algn="l">
              <a:lnSpc>
                <a:spcPct val="100000"/>
              </a:lnSpc>
              <a:spcAft>
                <a:spcPts val="200"/>
              </a:spcAft>
            </a:pPr>
            <a:r>
              <a:rPr sz="1050" b="0" i="0">
                <a:solidFill>
                  <a:srgbClr val="B3C2E0"/>
                </a:solidFill>
                <a:latin typeface="Open Sans"/>
              </a:rPr>
              <a:t>Auto-escalates on low confidence or negativity</a:t>
            </a:r>
          </a:p>
        </p:txBody>
      </p:sp>
      <p:sp>
        <p:nvSpPr>
          <p:cNvPr id="20" name="Rounded Rectangle 19"/>
          <p:cNvSpPr/>
          <p:nvPr/>
        </p:nvSpPr>
        <p:spPr>
          <a:xfrm>
            <a:off x="8357616" y="347472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13648" y="365760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22" name="TextBox 21"/>
          <p:cNvSpPr txBox="1"/>
          <p:nvPr/>
        </p:nvSpPr>
        <p:spPr>
          <a:xfrm>
            <a:off x="8613648" y="413308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Analytics dashboard</a:t>
            </a:r>
          </a:p>
          <a:p>
            <a:pPr algn="l">
              <a:lnSpc>
                <a:spcPct val="100000"/>
              </a:lnSpc>
              <a:spcAft>
                <a:spcPts val="200"/>
              </a:spcAft>
            </a:pPr>
            <a:r>
              <a:rPr sz="1050" b="0" i="0">
                <a:solidFill>
                  <a:srgbClr val="B3C2E0"/>
                </a:solidFill>
                <a:latin typeface="Open Sans"/>
              </a:rPr>
              <a:t>Volume, resolution rate, peak-hour heatmap</a:t>
            </a:r>
          </a:p>
        </p:txBody>
      </p:sp>
      <p:sp>
        <p:nvSpPr>
          <p:cNvPr id="23" name="Rounded Rectangle 22"/>
          <p:cNvSpPr/>
          <p:nvPr/>
        </p:nvSpPr>
        <p:spPr>
          <a:xfrm>
            <a:off x="731520" y="516636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534924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25" name="TextBox 24"/>
          <p:cNvSpPr txBox="1"/>
          <p:nvPr/>
        </p:nvSpPr>
        <p:spPr>
          <a:xfrm>
            <a:off x="987552" y="582472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Product knowledge</a:t>
            </a:r>
          </a:p>
          <a:p>
            <a:pPr algn="l">
              <a:lnSpc>
                <a:spcPct val="100000"/>
              </a:lnSpc>
              <a:spcAft>
                <a:spcPts val="200"/>
              </a:spcAft>
            </a:pPr>
            <a:r>
              <a:rPr sz="1050" b="0" i="0">
                <a:solidFill>
                  <a:srgbClr val="B3C2E0"/>
                </a:solidFill>
                <a:latin typeface="Open Sans"/>
              </a:rPr>
              <a:t>Attach facts to products; bot cites verbatim</a:t>
            </a:r>
          </a:p>
        </p:txBody>
      </p:sp>
      <p:sp>
        <p:nvSpPr>
          <p:cNvPr id="26" name="Rounded Rectangle 25"/>
          <p:cNvSpPr/>
          <p:nvPr/>
        </p:nvSpPr>
        <p:spPr>
          <a:xfrm>
            <a:off x="4544568" y="516636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600" y="534924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28" name="TextBox 27"/>
          <p:cNvSpPr txBox="1"/>
          <p:nvPr/>
        </p:nvSpPr>
        <p:spPr>
          <a:xfrm>
            <a:off x="4800600" y="582472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After-hours replies</a:t>
            </a:r>
          </a:p>
          <a:p>
            <a:pPr algn="l">
              <a:lnSpc>
                <a:spcPct val="100000"/>
              </a:lnSpc>
              <a:spcAft>
                <a:spcPts val="200"/>
              </a:spcAft>
            </a:pPr>
            <a:r>
              <a:rPr sz="1050" b="0" i="0">
                <a:solidFill>
                  <a:srgbClr val="B3C2E0"/>
                </a:solidFill>
                <a:latin typeface="Open Sans"/>
              </a:rPr>
              <a:t>Context-aware off-hours messages, not templates</a:t>
            </a:r>
          </a:p>
        </p:txBody>
      </p:sp>
      <p:sp>
        <p:nvSpPr>
          <p:cNvPr id="29" name="Rounded Rectangle 28"/>
          <p:cNvSpPr/>
          <p:nvPr/>
        </p:nvSpPr>
        <p:spPr>
          <a:xfrm>
            <a:off x="8357616" y="5166360"/>
            <a:ext cx="3520440" cy="1417320"/>
          </a:xfrm>
          <a:prstGeom prst="roundRect">
            <a:avLst>
              <a:gd name="adj" fmla="val 10000"/>
            </a:avLst>
          </a:prstGeom>
          <a:solidFill>
            <a:srgbClr val="080330">
              <a:alpha val="50000"/>
            </a:srgbClr>
          </a:solidFill>
          <a:ln w="7620">
            <a:solidFill>
              <a:srgbClr val="4466FF">
                <a:alpha val="3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13648" y="5349240"/>
            <a:ext cx="914400" cy="548640"/>
          </a:xfrm>
          <a:prstGeom prst="rect">
            <a:avLst/>
          </a:prstGeom>
          <a:noFill/>
        </p:spPr>
        <p:txBody>
          <a:bodyPr wrap="square" anchor="t" lIns="0" rIns="0" tIns="0" bIns="0">
            <a:spAutoFit/>
          </a:bodyPr>
          <a:lstStyle/>
          <a:p>
            <a:pPr algn="l"/>
            <a:r>
              <a:rPr sz="2400" b="0" i="0">
                <a:solidFill>
                  <a:srgbClr val="7AA8FF"/>
                </a:solidFill>
                <a:latin typeface="Open Sans"/>
              </a:rPr>
              <a:t>👍</a:t>
            </a:r>
          </a:p>
        </p:txBody>
      </p:sp>
      <p:sp>
        <p:nvSpPr>
          <p:cNvPr id="31" name="TextBox 30"/>
          <p:cNvSpPr txBox="1"/>
          <p:nvPr/>
        </p:nvSpPr>
        <p:spPr>
          <a:xfrm>
            <a:off x="8613648" y="5824728"/>
            <a:ext cx="3008376" cy="731520"/>
          </a:xfrm>
          <a:prstGeom prst="rect">
            <a:avLst/>
          </a:prstGeom>
          <a:noFill/>
        </p:spPr>
        <p:txBody>
          <a:bodyPr wrap="square" anchor="t" lIns="0" rIns="0" tIns="0" bIns="0">
            <a:spAutoFit/>
          </a:bodyPr>
          <a:lstStyle/>
          <a:p>
            <a:pPr algn="l">
              <a:lnSpc>
                <a:spcPct val="100000"/>
              </a:lnSpc>
              <a:spcAft>
                <a:spcPts val="200"/>
              </a:spcAft>
            </a:pPr>
            <a:r>
              <a:rPr sz="1450" b="1" i="0">
                <a:solidFill>
                  <a:srgbClr val="FFFFFF"/>
                </a:solidFill>
                <a:latin typeface="Sora"/>
              </a:rPr>
              <a:t>Feedback loop</a:t>
            </a:r>
          </a:p>
          <a:p>
            <a:pPr algn="l">
              <a:lnSpc>
                <a:spcPct val="100000"/>
              </a:lnSpc>
              <a:spcAft>
                <a:spcPts val="200"/>
              </a:spcAft>
            </a:pPr>
            <a:r>
              <a:rPr sz="1050" b="0" i="0">
                <a:solidFill>
                  <a:srgbClr val="B3C2E0"/>
                </a:solidFill>
                <a:latin typeface="Open Sans"/>
              </a:rPr>
              <a:t>“Was this helpful?” tunes future replies</a:t>
            </a:r>
          </a:p>
        </p:txBody>
      </p:sp>
      <p:sp>
        <p:nvSpPr>
          <p:cNvPr id="32" name="Rounded Rectangle 31">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33" name="TextBox 32"/>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07 / 13</a:t>
            </a:r>
          </a:p>
        </p:txBody>
      </p:sp>
    </p:spTree>
  </p:cSld>
  <p:clrMapOvr>
    <a:masterClrMapping/>
  </p:clrMapOvr>
  <p:transition spd="med">
    <p:zoom/>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77724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06 · WHY LUMA</a:t>
            </a:r>
          </a:p>
        </p:txBody>
      </p:sp>
      <p:sp>
        <p:nvSpPr>
          <p:cNvPr id="4" name="TextBox 3"/>
          <p:cNvSpPr txBox="1"/>
          <p:nvPr/>
        </p:nvSpPr>
        <p:spPr>
          <a:xfrm>
            <a:off x="731520" y="1143000"/>
            <a:ext cx="10515600" cy="1280160"/>
          </a:xfrm>
          <a:prstGeom prst="rect">
            <a:avLst/>
          </a:prstGeom>
          <a:noFill/>
        </p:spPr>
        <p:txBody>
          <a:bodyPr wrap="square" anchor="t" lIns="0" rIns="0" tIns="0" bIns="0">
            <a:spAutoFit/>
          </a:bodyPr>
          <a:lstStyle/>
          <a:p>
            <a:pPr algn="l">
              <a:lnSpc>
                <a:spcPct val="105000"/>
              </a:lnSpc>
              <a:spcAft>
                <a:spcPts val="800"/>
              </a:spcAft>
            </a:pPr>
            <a:r>
              <a:rPr sz="3800" b="1" i="0">
                <a:solidFill>
                  <a:srgbClr val="FFFFFF"/>
                </a:solidFill>
                <a:latin typeface="Sora"/>
              </a:rPr>
              <a:t>Not a generic chatbot. </a:t>
            </a:r>
            <a:r>
              <a:rPr sz="3800" b="1" i="0">
                <a:solidFill>
                  <a:srgbClr val="7AA8FF"/>
                </a:solidFill>
                <a:latin typeface="Sora"/>
              </a:rPr>
              <a:t>A real teammate.</a:t>
            </a:r>
          </a:p>
          <a:p>
            <a:pPr algn="l">
              <a:lnSpc>
                <a:spcPct val="105000"/>
              </a:lnSpc>
              <a:spcAft>
                <a:spcPts val="800"/>
              </a:spcAft>
            </a:pPr>
            <a:r>
              <a:rPr sz="1500" b="0" i="0">
                <a:solidFill>
                  <a:srgbClr val="B3C2E0"/>
                </a:solidFill>
                <a:latin typeface="Open Sans"/>
              </a:rPr>
              <a:t>Built from the ground up for merchants who know that fast answers drive sales.</a:t>
            </a:r>
          </a:p>
        </p:txBody>
      </p:sp>
      <p:sp>
        <p:nvSpPr>
          <p:cNvPr id="5" name="Rounded Rectangle 4"/>
          <p:cNvSpPr/>
          <p:nvPr/>
        </p:nvSpPr>
        <p:spPr>
          <a:xfrm>
            <a:off x="731520" y="2697480"/>
            <a:ext cx="5349240" cy="548640"/>
          </a:xfrm>
          <a:prstGeom prst="roundRect">
            <a:avLst>
              <a:gd name="adj" fmla="val 18000"/>
            </a:avLst>
          </a:prstGeom>
          <a:solidFill>
            <a:srgbClr val="020108">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300" b="1" i="0" spc="200">
                <a:solidFill>
                  <a:srgbClr val="B3C2E0"/>
                </a:solidFill>
                <a:latin typeface="JetBrains Mono"/>
              </a:rPr>
              <a:t>GENERIC CHATBOT</a:t>
            </a:r>
          </a:p>
        </p:txBody>
      </p:sp>
      <p:sp>
        <p:nvSpPr>
          <p:cNvPr id="6" name="Rounded Rectangle 5"/>
          <p:cNvSpPr/>
          <p:nvPr/>
        </p:nvSpPr>
        <p:spPr>
          <a:xfrm>
            <a:off x="6355080" y="2697480"/>
            <a:ext cx="5074920" cy="548640"/>
          </a:xfrm>
          <a:prstGeom prst="roundRect">
            <a:avLst>
              <a:gd name="adj" fmla="val 18000"/>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300" b="1" i="0" spc="200">
                <a:solidFill>
                  <a:srgbClr val="FFFFFF"/>
                </a:solidFill>
                <a:latin typeface="JetBrains Mono"/>
              </a:rPr>
              <a:t>LUMA</a:t>
            </a:r>
          </a:p>
        </p:txBody>
      </p:sp>
      <p:sp>
        <p:nvSpPr>
          <p:cNvPr id="7" name="Rounded Rectangle 6"/>
          <p:cNvSpPr/>
          <p:nvPr/>
        </p:nvSpPr>
        <p:spPr>
          <a:xfrm>
            <a:off x="731520" y="3410712"/>
            <a:ext cx="5349240" cy="548640"/>
          </a:xfrm>
          <a:prstGeom prst="roundRect">
            <a:avLst>
              <a:gd name="adj" fmla="val 14000"/>
            </a:avLst>
          </a:prstGeom>
          <a:solidFill>
            <a:srgbClr val="080330">
              <a:alpha val="45000"/>
            </a:srgbClr>
          </a:solidFill>
          <a:ln w="5080">
            <a:solidFill>
              <a:srgbClr val="B3C2E0">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FF7A7A"/>
                </a:solidFill>
                <a:latin typeface="Open Sans"/>
              </a:rPr>
              <a:t>✕  </a:t>
            </a:r>
            <a:r>
              <a:rPr sz="1250" b="0" i="0">
                <a:solidFill>
                  <a:srgbClr val="B3C2E0"/>
                </a:solidFill>
                <a:latin typeface="Open Sans"/>
              </a:rPr>
              <a:t>Translates word-for-word</a:t>
            </a:r>
          </a:p>
        </p:txBody>
      </p:sp>
      <p:sp>
        <p:nvSpPr>
          <p:cNvPr id="8" name="Rounded Rectangle 7"/>
          <p:cNvSpPr/>
          <p:nvPr/>
        </p:nvSpPr>
        <p:spPr>
          <a:xfrm>
            <a:off x="6355080" y="3410712"/>
            <a:ext cx="5074920" cy="548640"/>
          </a:xfrm>
          <a:prstGeom prst="roundRect">
            <a:avLst>
              <a:gd name="adj" fmla="val 14000"/>
            </a:avLst>
          </a:prstGeom>
          <a:solidFill>
            <a:srgbClr val="080330">
              <a:alpha val="70000"/>
            </a:srgbClr>
          </a:solidFill>
          <a:ln w="10160">
            <a:solidFill>
              <a:srgbClr val="4466F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22C55E"/>
                </a:solidFill>
                <a:latin typeface="Open Sans"/>
              </a:rPr>
              <a:t>✓  </a:t>
            </a:r>
            <a:r>
              <a:rPr sz="1250" b="1" i="0">
                <a:solidFill>
                  <a:srgbClr val="FFFFFF"/>
                </a:solidFill>
                <a:latin typeface="Open Sans"/>
              </a:rPr>
              <a:t>Speaks Arabic &amp; Franco natively</a:t>
            </a:r>
          </a:p>
        </p:txBody>
      </p:sp>
      <p:sp>
        <p:nvSpPr>
          <p:cNvPr id="9" name="Rounded Rectangle 8"/>
          <p:cNvSpPr/>
          <p:nvPr/>
        </p:nvSpPr>
        <p:spPr>
          <a:xfrm>
            <a:off x="731520" y="4050792"/>
            <a:ext cx="5349240" cy="548640"/>
          </a:xfrm>
          <a:prstGeom prst="roundRect">
            <a:avLst>
              <a:gd name="adj" fmla="val 14000"/>
            </a:avLst>
          </a:prstGeom>
          <a:solidFill>
            <a:srgbClr val="080330">
              <a:alpha val="45000"/>
            </a:srgbClr>
          </a:solidFill>
          <a:ln w="5080">
            <a:solidFill>
              <a:srgbClr val="B3C2E0">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FF7A7A"/>
                </a:solidFill>
                <a:latin typeface="Open Sans"/>
              </a:rPr>
              <a:t>✕  </a:t>
            </a:r>
            <a:r>
              <a:rPr sz="1250" b="0" i="0">
                <a:solidFill>
                  <a:srgbClr val="B3C2E0"/>
                </a:solidFill>
                <a:latin typeface="Open Sans"/>
              </a:rPr>
              <a:t>Guesses order status</a:t>
            </a:r>
          </a:p>
        </p:txBody>
      </p:sp>
      <p:sp>
        <p:nvSpPr>
          <p:cNvPr id="10" name="Rounded Rectangle 9"/>
          <p:cNvSpPr/>
          <p:nvPr/>
        </p:nvSpPr>
        <p:spPr>
          <a:xfrm>
            <a:off x="6355080" y="4050792"/>
            <a:ext cx="5074920" cy="548640"/>
          </a:xfrm>
          <a:prstGeom prst="roundRect">
            <a:avLst>
              <a:gd name="adj" fmla="val 14000"/>
            </a:avLst>
          </a:prstGeom>
          <a:solidFill>
            <a:srgbClr val="080330">
              <a:alpha val="70000"/>
            </a:srgbClr>
          </a:solidFill>
          <a:ln w="10160">
            <a:solidFill>
              <a:srgbClr val="4466F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22C55E"/>
                </a:solidFill>
                <a:latin typeface="Open Sans"/>
              </a:rPr>
              <a:t>✓  </a:t>
            </a:r>
            <a:r>
              <a:rPr sz="1250" b="1" i="0">
                <a:solidFill>
                  <a:srgbClr val="FFFFFF"/>
                </a:solidFill>
                <a:latin typeface="Open Sans"/>
              </a:rPr>
              <a:t>Reads real Shopify order data</a:t>
            </a:r>
          </a:p>
        </p:txBody>
      </p:sp>
      <p:sp>
        <p:nvSpPr>
          <p:cNvPr id="11" name="Rounded Rectangle 10"/>
          <p:cNvSpPr/>
          <p:nvPr/>
        </p:nvSpPr>
        <p:spPr>
          <a:xfrm>
            <a:off x="731520" y="4690872"/>
            <a:ext cx="5349240" cy="548640"/>
          </a:xfrm>
          <a:prstGeom prst="roundRect">
            <a:avLst>
              <a:gd name="adj" fmla="val 14000"/>
            </a:avLst>
          </a:prstGeom>
          <a:solidFill>
            <a:srgbClr val="080330">
              <a:alpha val="45000"/>
            </a:srgbClr>
          </a:solidFill>
          <a:ln w="5080">
            <a:solidFill>
              <a:srgbClr val="B3C2E0">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FF7A7A"/>
                </a:solidFill>
                <a:latin typeface="Open Sans"/>
              </a:rPr>
              <a:t>✕  </a:t>
            </a:r>
            <a:r>
              <a:rPr sz="1250" b="0" i="0">
                <a:solidFill>
                  <a:srgbClr val="B3C2E0"/>
                </a:solidFill>
                <a:latin typeface="Open Sans"/>
              </a:rPr>
              <a:t>Yet another dashboard to open</a:t>
            </a:r>
          </a:p>
        </p:txBody>
      </p:sp>
      <p:sp>
        <p:nvSpPr>
          <p:cNvPr id="12" name="Rounded Rectangle 11"/>
          <p:cNvSpPr/>
          <p:nvPr/>
        </p:nvSpPr>
        <p:spPr>
          <a:xfrm>
            <a:off x="6355080" y="4690872"/>
            <a:ext cx="5074920" cy="548640"/>
          </a:xfrm>
          <a:prstGeom prst="roundRect">
            <a:avLst>
              <a:gd name="adj" fmla="val 14000"/>
            </a:avLst>
          </a:prstGeom>
          <a:solidFill>
            <a:srgbClr val="080330">
              <a:alpha val="70000"/>
            </a:srgbClr>
          </a:solidFill>
          <a:ln w="10160">
            <a:solidFill>
              <a:srgbClr val="4466F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22C55E"/>
                </a:solidFill>
                <a:latin typeface="Open Sans"/>
              </a:rPr>
              <a:t>✓  </a:t>
            </a:r>
            <a:r>
              <a:rPr sz="1250" b="1" i="0">
                <a:solidFill>
                  <a:srgbClr val="FFFFFF"/>
                </a:solidFill>
                <a:latin typeface="Open Sans"/>
              </a:rPr>
              <a:t>Embedded in your Shopify Admin</a:t>
            </a:r>
          </a:p>
        </p:txBody>
      </p:sp>
      <p:sp>
        <p:nvSpPr>
          <p:cNvPr id="13" name="Rounded Rectangle 12"/>
          <p:cNvSpPr/>
          <p:nvPr/>
        </p:nvSpPr>
        <p:spPr>
          <a:xfrm>
            <a:off x="731520" y="5330952"/>
            <a:ext cx="5349240" cy="548640"/>
          </a:xfrm>
          <a:prstGeom prst="roundRect">
            <a:avLst>
              <a:gd name="adj" fmla="val 14000"/>
            </a:avLst>
          </a:prstGeom>
          <a:solidFill>
            <a:srgbClr val="080330">
              <a:alpha val="45000"/>
            </a:srgbClr>
          </a:solidFill>
          <a:ln w="5080">
            <a:solidFill>
              <a:srgbClr val="B3C2E0">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FF7A7A"/>
                </a:solidFill>
                <a:latin typeface="Open Sans"/>
              </a:rPr>
              <a:t>✕  </a:t>
            </a:r>
            <a:r>
              <a:rPr sz="1250" b="0" i="0">
                <a:solidFill>
                  <a:srgbClr val="B3C2E0"/>
                </a:solidFill>
                <a:latin typeface="Open Sans"/>
              </a:rPr>
              <a:t>Burns tokens on “hi”</a:t>
            </a:r>
          </a:p>
        </p:txBody>
      </p:sp>
      <p:sp>
        <p:nvSpPr>
          <p:cNvPr id="14" name="Rounded Rectangle 13"/>
          <p:cNvSpPr/>
          <p:nvPr/>
        </p:nvSpPr>
        <p:spPr>
          <a:xfrm>
            <a:off x="6355080" y="5330952"/>
            <a:ext cx="5074920" cy="548640"/>
          </a:xfrm>
          <a:prstGeom prst="roundRect">
            <a:avLst>
              <a:gd name="adj" fmla="val 14000"/>
            </a:avLst>
          </a:prstGeom>
          <a:solidFill>
            <a:srgbClr val="080330">
              <a:alpha val="70000"/>
            </a:srgbClr>
          </a:solidFill>
          <a:ln w="10160">
            <a:solidFill>
              <a:srgbClr val="4466F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22C55E"/>
                </a:solidFill>
                <a:latin typeface="Open Sans"/>
              </a:rPr>
              <a:t>✓  </a:t>
            </a:r>
            <a:r>
              <a:rPr sz="1250" b="1" i="0">
                <a:solidFill>
                  <a:srgbClr val="FFFFFF"/>
                </a:solidFill>
                <a:latin typeface="Open Sans"/>
              </a:rPr>
              <a:t>Pre-filters trivial messages free</a:t>
            </a:r>
          </a:p>
        </p:txBody>
      </p:sp>
      <p:sp>
        <p:nvSpPr>
          <p:cNvPr id="15" name="Rounded Rectangle 14"/>
          <p:cNvSpPr/>
          <p:nvPr/>
        </p:nvSpPr>
        <p:spPr>
          <a:xfrm>
            <a:off x="731520" y="5971032"/>
            <a:ext cx="5349240" cy="548640"/>
          </a:xfrm>
          <a:prstGeom prst="roundRect">
            <a:avLst>
              <a:gd name="adj" fmla="val 14000"/>
            </a:avLst>
          </a:prstGeom>
          <a:solidFill>
            <a:srgbClr val="080330">
              <a:alpha val="45000"/>
            </a:srgbClr>
          </a:solidFill>
          <a:ln w="5080">
            <a:solidFill>
              <a:srgbClr val="B3C2E0">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FF7A7A"/>
                </a:solidFill>
                <a:latin typeface="Open Sans"/>
              </a:rPr>
              <a:t>✕  </a:t>
            </a:r>
            <a:r>
              <a:rPr sz="1250" b="0" i="0">
                <a:solidFill>
                  <a:srgbClr val="B3C2E0"/>
                </a:solidFill>
                <a:latin typeface="Open Sans"/>
              </a:rPr>
              <a:t>Loops when confused</a:t>
            </a:r>
          </a:p>
        </p:txBody>
      </p:sp>
      <p:sp>
        <p:nvSpPr>
          <p:cNvPr id="16" name="Rounded Rectangle 15"/>
          <p:cNvSpPr/>
          <p:nvPr/>
        </p:nvSpPr>
        <p:spPr>
          <a:xfrm>
            <a:off x="6355080" y="5971032"/>
            <a:ext cx="5074920" cy="548640"/>
          </a:xfrm>
          <a:prstGeom prst="roundRect">
            <a:avLst>
              <a:gd name="adj" fmla="val 14000"/>
            </a:avLst>
          </a:prstGeom>
          <a:solidFill>
            <a:srgbClr val="080330">
              <a:alpha val="70000"/>
            </a:srgbClr>
          </a:solidFill>
          <a:ln w="10160">
            <a:solidFill>
              <a:srgbClr val="4466F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200" b="1" i="0">
                <a:solidFill>
                  <a:srgbClr val="22C55E"/>
                </a:solidFill>
                <a:latin typeface="Open Sans"/>
              </a:rPr>
              <a:t>✓  </a:t>
            </a:r>
            <a:r>
              <a:rPr sz="1250" b="1" i="0">
                <a:solidFill>
                  <a:srgbClr val="FFFFFF"/>
                </a:solidFill>
                <a:latin typeface="Open Sans"/>
              </a:rPr>
              <a:t>Escalates to a human gracefully</a:t>
            </a:r>
          </a:p>
        </p:txBody>
      </p:sp>
      <p:sp>
        <p:nvSpPr>
          <p:cNvPr id="17" name="Rounded Rectangle 16">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18" name="TextBox 17"/>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08 / 13</a:t>
            </a:r>
          </a:p>
        </p:txBody>
      </p:sp>
    </p:spTree>
  </p:cSld>
  <p:clrMapOvr>
    <a:masterClrMapping/>
  </p:clrMapOvr>
  <p:transition spd="med">
    <p:wipe dir="u"/>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868680"/>
            <a:ext cx="7315200" cy="365760"/>
          </a:xfrm>
          <a:prstGeom prst="rect">
            <a:avLst/>
          </a:prstGeom>
          <a:noFill/>
        </p:spPr>
        <p:txBody>
          <a:bodyPr wrap="square" anchor="t" lIns="0" rIns="0" tIns="0" bIns="0">
            <a:spAutoFit/>
          </a:bodyPr>
          <a:lstStyle/>
          <a:p>
            <a:pPr algn="l"/>
            <a:r>
              <a:rPr sz="1250" b="1" i="0" spc="260">
                <a:solidFill>
                  <a:srgbClr val="B3CCFF"/>
                </a:solidFill>
                <a:latin typeface="JetBrains Mono"/>
              </a:rPr>
              <a:t>07 · PROVEN PERFORMANCE</a:t>
            </a:r>
          </a:p>
        </p:txBody>
      </p:sp>
      <p:sp>
        <p:nvSpPr>
          <p:cNvPr id="4" name="TextBox 3"/>
          <p:cNvSpPr txBox="1"/>
          <p:nvPr/>
        </p:nvSpPr>
        <p:spPr>
          <a:xfrm>
            <a:off x="731520" y="1234440"/>
            <a:ext cx="10515600" cy="914400"/>
          </a:xfrm>
          <a:prstGeom prst="rect">
            <a:avLst/>
          </a:prstGeom>
          <a:noFill/>
        </p:spPr>
        <p:txBody>
          <a:bodyPr wrap="square" anchor="t" lIns="0" rIns="0" tIns="0" bIns="0">
            <a:spAutoFit/>
          </a:bodyPr>
          <a:lstStyle/>
          <a:p>
            <a:pPr algn="l"/>
            <a:r>
              <a:rPr sz="3400" b="1" i="0">
                <a:solidFill>
                  <a:srgbClr val="FFFFFF"/>
                </a:solidFill>
                <a:latin typeface="Sora"/>
              </a:rPr>
              <a:t>Numbers that turn conversations into </a:t>
            </a:r>
            <a:r>
              <a:rPr sz="3400" b="1" i="0">
                <a:solidFill>
                  <a:srgbClr val="7AA8FF"/>
                </a:solidFill>
                <a:latin typeface="Sora"/>
              </a:rPr>
              <a:t>revenue</a:t>
            </a:r>
          </a:p>
        </p:txBody>
      </p:sp>
      <p:sp>
        <p:nvSpPr>
          <p:cNvPr id="5" name="Rounded Rectangle 4"/>
          <p:cNvSpPr/>
          <p:nvPr/>
        </p:nvSpPr>
        <p:spPr>
          <a:xfrm>
            <a:off x="731520" y="2743200"/>
            <a:ext cx="2606040" cy="2743200"/>
          </a:xfrm>
          <a:prstGeom prst="roundRect">
            <a:avLst>
              <a:gd name="adj" fmla="val 8000"/>
            </a:avLst>
          </a:prstGeom>
          <a:solidFill>
            <a:srgbClr val="080330">
              <a:alpha val="70000"/>
            </a:srgbClr>
          </a:solidFill>
          <a:ln w="12700">
            <a:solidFill>
              <a:srgbClr val="4466FF">
                <a:alpha val="55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606040" cy="1097280"/>
          </a:xfrm>
          <a:prstGeom prst="rect">
            <a:avLst/>
          </a:prstGeom>
          <a:noFill/>
        </p:spPr>
        <p:txBody>
          <a:bodyPr wrap="square" anchor="t" lIns="0" rIns="0" tIns="0" bIns="0">
            <a:spAutoFit/>
          </a:bodyPr>
          <a:lstStyle/>
          <a:p>
            <a:pPr algn="ctr"/>
            <a:r>
              <a:rPr sz="5800" b="1" i="0">
                <a:solidFill>
                  <a:srgbClr val="7AA8FF"/>
                </a:solidFill>
                <a:latin typeface="Sora"/>
              </a:rPr>
              <a:t>&lt; 2s</a:t>
            </a:r>
          </a:p>
        </p:txBody>
      </p:sp>
      <p:sp>
        <p:nvSpPr>
          <p:cNvPr id="7" name="TextBox 6"/>
          <p:cNvSpPr txBox="1"/>
          <p:nvPr/>
        </p:nvSpPr>
        <p:spPr>
          <a:xfrm>
            <a:off x="960120" y="4343400"/>
            <a:ext cx="2148840" cy="1005840"/>
          </a:xfrm>
          <a:prstGeom prst="rect">
            <a:avLst/>
          </a:prstGeom>
          <a:noFill/>
        </p:spPr>
        <p:txBody>
          <a:bodyPr wrap="square" anchor="t" lIns="0" rIns="0" tIns="0" bIns="0">
            <a:spAutoFit/>
          </a:bodyPr>
          <a:lstStyle/>
          <a:p>
            <a:pPr algn="ctr">
              <a:lnSpc>
                <a:spcPct val="105000"/>
              </a:lnSpc>
              <a:spcAft>
                <a:spcPts val="400"/>
              </a:spcAft>
            </a:pPr>
            <a:r>
              <a:rPr sz="1800" b="1" i="0">
                <a:solidFill>
                  <a:srgbClr val="FFFFFF"/>
                </a:solidFill>
                <a:latin typeface="Sora"/>
              </a:rPr>
              <a:t>Reply time</a:t>
            </a:r>
          </a:p>
          <a:p>
            <a:pPr algn="ctr">
              <a:lnSpc>
                <a:spcPct val="105000"/>
              </a:lnSpc>
              <a:spcAft>
                <a:spcPts val="400"/>
              </a:spcAft>
            </a:pPr>
            <a:r>
              <a:rPr sz="1150" b="0" i="0">
                <a:solidFill>
                  <a:srgbClr val="B3C2E0"/>
                </a:solidFill>
                <a:latin typeface="Open Sans"/>
              </a:rPr>
              <a:t>From customer message to a visible answer.</a:t>
            </a:r>
          </a:p>
        </p:txBody>
      </p:sp>
      <p:sp>
        <p:nvSpPr>
          <p:cNvPr id="8" name="Rounded Rectangle 7"/>
          <p:cNvSpPr/>
          <p:nvPr/>
        </p:nvSpPr>
        <p:spPr>
          <a:xfrm>
            <a:off x="3611880" y="2743200"/>
            <a:ext cx="2606040" cy="2743200"/>
          </a:xfrm>
          <a:prstGeom prst="roundRect">
            <a:avLst>
              <a:gd name="adj" fmla="val 8000"/>
            </a:avLst>
          </a:prstGeom>
          <a:solidFill>
            <a:srgbClr val="080330">
              <a:alpha val="70000"/>
            </a:srgbClr>
          </a:solidFill>
          <a:ln w="12700">
            <a:solidFill>
              <a:srgbClr val="4466FF">
                <a:alpha val="55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3154680"/>
            <a:ext cx="2606040" cy="1097280"/>
          </a:xfrm>
          <a:prstGeom prst="rect">
            <a:avLst/>
          </a:prstGeom>
          <a:noFill/>
        </p:spPr>
        <p:txBody>
          <a:bodyPr wrap="square" anchor="t" lIns="0" rIns="0" tIns="0" bIns="0">
            <a:spAutoFit/>
          </a:bodyPr>
          <a:lstStyle/>
          <a:p>
            <a:pPr algn="ctr"/>
            <a:r>
              <a:rPr sz="5800" b="1" i="0">
                <a:solidFill>
                  <a:srgbClr val="7AA8FF"/>
                </a:solidFill>
                <a:latin typeface="Sora"/>
              </a:rPr>
              <a:t>3</a:t>
            </a:r>
          </a:p>
        </p:txBody>
      </p:sp>
      <p:sp>
        <p:nvSpPr>
          <p:cNvPr id="10" name="TextBox 9"/>
          <p:cNvSpPr txBox="1"/>
          <p:nvPr/>
        </p:nvSpPr>
        <p:spPr>
          <a:xfrm>
            <a:off x="3840480" y="4343400"/>
            <a:ext cx="2148840" cy="1005840"/>
          </a:xfrm>
          <a:prstGeom prst="rect">
            <a:avLst/>
          </a:prstGeom>
          <a:noFill/>
        </p:spPr>
        <p:txBody>
          <a:bodyPr wrap="square" anchor="t" lIns="0" rIns="0" tIns="0" bIns="0">
            <a:spAutoFit/>
          </a:bodyPr>
          <a:lstStyle/>
          <a:p>
            <a:pPr algn="ctr">
              <a:lnSpc>
                <a:spcPct val="105000"/>
              </a:lnSpc>
              <a:spcAft>
                <a:spcPts val="400"/>
              </a:spcAft>
            </a:pPr>
            <a:r>
              <a:rPr sz="1800" b="1" i="0">
                <a:solidFill>
                  <a:srgbClr val="FFFFFF"/>
                </a:solidFill>
                <a:latin typeface="Sora"/>
              </a:rPr>
              <a:t>Languages</a:t>
            </a:r>
          </a:p>
          <a:p>
            <a:pPr algn="ctr">
              <a:lnSpc>
                <a:spcPct val="105000"/>
              </a:lnSpc>
              <a:spcAft>
                <a:spcPts val="400"/>
              </a:spcAft>
            </a:pPr>
            <a:r>
              <a:rPr sz="1150" b="0" i="0">
                <a:solidFill>
                  <a:srgbClr val="B3C2E0"/>
                </a:solidFill>
                <a:latin typeface="Open Sans"/>
              </a:rPr>
              <a:t>Arabic, English &amp; Franco-Arabic, auto-detected.</a:t>
            </a:r>
          </a:p>
        </p:txBody>
      </p:sp>
      <p:sp>
        <p:nvSpPr>
          <p:cNvPr id="11" name="Rounded Rectangle 10"/>
          <p:cNvSpPr/>
          <p:nvPr/>
        </p:nvSpPr>
        <p:spPr>
          <a:xfrm>
            <a:off x="6492240" y="2743200"/>
            <a:ext cx="2606040" cy="2743200"/>
          </a:xfrm>
          <a:prstGeom prst="roundRect">
            <a:avLst>
              <a:gd name="adj" fmla="val 8000"/>
            </a:avLst>
          </a:prstGeom>
          <a:solidFill>
            <a:srgbClr val="080330">
              <a:alpha val="70000"/>
            </a:srgbClr>
          </a:solidFill>
          <a:ln w="12700">
            <a:solidFill>
              <a:srgbClr val="4466FF">
                <a:alpha val="55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3154680"/>
            <a:ext cx="2606040" cy="1097280"/>
          </a:xfrm>
          <a:prstGeom prst="rect">
            <a:avLst/>
          </a:prstGeom>
          <a:noFill/>
        </p:spPr>
        <p:txBody>
          <a:bodyPr wrap="square" anchor="t" lIns="0" rIns="0" tIns="0" bIns="0">
            <a:spAutoFit/>
          </a:bodyPr>
          <a:lstStyle/>
          <a:p>
            <a:pPr algn="ctr"/>
            <a:r>
              <a:rPr sz="5800" b="1" i="0">
                <a:solidFill>
                  <a:srgbClr val="7AA8FF"/>
                </a:solidFill>
                <a:latin typeface="Sora"/>
              </a:rPr>
              <a:t>24/7</a:t>
            </a:r>
          </a:p>
        </p:txBody>
      </p:sp>
      <p:sp>
        <p:nvSpPr>
          <p:cNvPr id="13" name="TextBox 12"/>
          <p:cNvSpPr txBox="1"/>
          <p:nvPr/>
        </p:nvSpPr>
        <p:spPr>
          <a:xfrm>
            <a:off x="6720840" y="4343400"/>
            <a:ext cx="2148840" cy="1005840"/>
          </a:xfrm>
          <a:prstGeom prst="rect">
            <a:avLst/>
          </a:prstGeom>
          <a:noFill/>
        </p:spPr>
        <p:txBody>
          <a:bodyPr wrap="square" anchor="t" lIns="0" rIns="0" tIns="0" bIns="0">
            <a:spAutoFit/>
          </a:bodyPr>
          <a:lstStyle/>
          <a:p>
            <a:pPr algn="ctr">
              <a:lnSpc>
                <a:spcPct val="105000"/>
              </a:lnSpc>
              <a:spcAft>
                <a:spcPts val="400"/>
              </a:spcAft>
            </a:pPr>
            <a:r>
              <a:rPr sz="1800" b="1" i="0">
                <a:solidFill>
                  <a:srgbClr val="FFFFFF"/>
                </a:solidFill>
                <a:latin typeface="Sora"/>
              </a:rPr>
              <a:t>Always on</a:t>
            </a:r>
          </a:p>
          <a:p>
            <a:pPr algn="ctr">
              <a:lnSpc>
                <a:spcPct val="105000"/>
              </a:lnSpc>
              <a:spcAft>
                <a:spcPts val="400"/>
              </a:spcAft>
            </a:pPr>
            <a:r>
              <a:rPr sz="1150" b="0" i="0">
                <a:solidFill>
                  <a:srgbClr val="B3C2E0"/>
                </a:solidFill>
                <a:latin typeface="Open Sans"/>
              </a:rPr>
              <a:t>Never sleeps — customers always hear back.</a:t>
            </a:r>
          </a:p>
        </p:txBody>
      </p:sp>
      <p:sp>
        <p:nvSpPr>
          <p:cNvPr id="14" name="Rounded Rectangle 13"/>
          <p:cNvSpPr/>
          <p:nvPr/>
        </p:nvSpPr>
        <p:spPr>
          <a:xfrm>
            <a:off x="9372600" y="2743200"/>
            <a:ext cx="2606040" cy="2743200"/>
          </a:xfrm>
          <a:prstGeom prst="roundRect">
            <a:avLst>
              <a:gd name="adj" fmla="val 8000"/>
            </a:avLst>
          </a:prstGeom>
          <a:solidFill>
            <a:srgbClr val="080330">
              <a:alpha val="70000"/>
            </a:srgbClr>
          </a:solidFill>
          <a:ln w="12700">
            <a:solidFill>
              <a:srgbClr val="4466FF">
                <a:alpha val="55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72600" y="3154680"/>
            <a:ext cx="2606040" cy="1097280"/>
          </a:xfrm>
          <a:prstGeom prst="rect">
            <a:avLst/>
          </a:prstGeom>
          <a:noFill/>
        </p:spPr>
        <p:txBody>
          <a:bodyPr wrap="square" anchor="t" lIns="0" rIns="0" tIns="0" bIns="0">
            <a:spAutoFit/>
          </a:bodyPr>
          <a:lstStyle/>
          <a:p>
            <a:pPr algn="ctr"/>
            <a:r>
              <a:rPr sz="5800" b="1" i="0">
                <a:solidFill>
                  <a:srgbClr val="7AA8FF"/>
                </a:solidFill>
                <a:latin typeface="Sora"/>
              </a:rPr>
              <a:t>2+1</a:t>
            </a:r>
          </a:p>
        </p:txBody>
      </p:sp>
      <p:sp>
        <p:nvSpPr>
          <p:cNvPr id="16" name="TextBox 15"/>
          <p:cNvSpPr txBox="1"/>
          <p:nvPr/>
        </p:nvSpPr>
        <p:spPr>
          <a:xfrm>
            <a:off x="9601200" y="4343400"/>
            <a:ext cx="2148840" cy="1005840"/>
          </a:xfrm>
          <a:prstGeom prst="rect">
            <a:avLst/>
          </a:prstGeom>
          <a:noFill/>
        </p:spPr>
        <p:txBody>
          <a:bodyPr wrap="square" anchor="t" lIns="0" rIns="0" tIns="0" bIns="0">
            <a:spAutoFit/>
          </a:bodyPr>
          <a:lstStyle/>
          <a:p>
            <a:pPr algn="ctr">
              <a:lnSpc>
                <a:spcPct val="105000"/>
              </a:lnSpc>
              <a:spcAft>
                <a:spcPts val="400"/>
              </a:spcAft>
            </a:pPr>
            <a:r>
              <a:rPr sz="1800" b="1" i="0">
                <a:solidFill>
                  <a:srgbClr val="FFFFFF"/>
                </a:solidFill>
                <a:latin typeface="Sora"/>
              </a:rPr>
              <a:t>Channels</a:t>
            </a:r>
          </a:p>
          <a:p>
            <a:pPr algn="ctr">
              <a:lnSpc>
                <a:spcPct val="105000"/>
              </a:lnSpc>
              <a:spcAft>
                <a:spcPts val="400"/>
              </a:spcAft>
            </a:pPr>
            <a:r>
              <a:rPr sz="1150" b="0" i="0">
                <a:solidFill>
                  <a:srgbClr val="B3C2E0"/>
                </a:solidFill>
                <a:latin typeface="Open Sans"/>
              </a:rPr>
              <a:t>Instagram + Shopify chat. WhatsApp coming soon.</a:t>
            </a:r>
          </a:p>
        </p:txBody>
      </p:sp>
      <p:sp>
        <p:nvSpPr>
          <p:cNvPr id="17" name="Rounded Rectangle 16">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18" name="TextBox 17"/>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09 / 13</a:t>
            </a:r>
          </a:p>
        </p:txBody>
      </p:sp>
    </p:spTree>
  </p:cSld>
  <p:clrMapOvr>
    <a:masterClrMapping/>
  </p:clrMapOvr>
  <p:transition spd="med">
    <p:cover dir="u"/>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640080"/>
            <a:ext cx="7315200" cy="365760"/>
          </a:xfrm>
          <a:prstGeom prst="rect">
            <a:avLst/>
          </a:prstGeom>
          <a:noFill/>
        </p:spPr>
        <p:txBody>
          <a:bodyPr wrap="square" anchor="t" lIns="0" rIns="0" tIns="0" bIns="0">
            <a:spAutoFit/>
          </a:bodyPr>
          <a:lstStyle/>
          <a:p>
            <a:pPr algn="l"/>
            <a:r>
              <a:rPr sz="1250" b="1" i="0" spc="260">
                <a:solidFill>
                  <a:srgbClr val="4466FF"/>
                </a:solidFill>
                <a:latin typeface="JetBrains Mono"/>
              </a:rPr>
              <a:t>08 · PRICING</a:t>
            </a:r>
          </a:p>
        </p:txBody>
      </p:sp>
      <p:sp>
        <p:nvSpPr>
          <p:cNvPr id="4" name="TextBox 3"/>
          <p:cNvSpPr txBox="1"/>
          <p:nvPr/>
        </p:nvSpPr>
        <p:spPr>
          <a:xfrm>
            <a:off x="731520" y="1005840"/>
            <a:ext cx="10515600" cy="731520"/>
          </a:xfrm>
          <a:prstGeom prst="rect">
            <a:avLst/>
          </a:prstGeom>
          <a:noFill/>
        </p:spPr>
        <p:txBody>
          <a:bodyPr wrap="square" anchor="t" lIns="0" rIns="0" tIns="0" bIns="0">
            <a:spAutoFit/>
          </a:bodyPr>
          <a:lstStyle/>
          <a:p>
            <a:pPr algn="l"/>
            <a:r>
              <a:rPr sz="3400" b="1" i="0">
                <a:solidFill>
                  <a:srgbClr val="0A0A2E"/>
                </a:solidFill>
                <a:latin typeface="Sora"/>
              </a:rPr>
              <a:t>Plans that scale with your store</a:t>
            </a:r>
          </a:p>
        </p:txBody>
      </p:sp>
      <p:sp>
        <p:nvSpPr>
          <p:cNvPr id="5" name="TextBox 4"/>
          <p:cNvSpPr txBox="1"/>
          <p:nvPr/>
        </p:nvSpPr>
        <p:spPr>
          <a:xfrm>
            <a:off x="731520" y="1627632"/>
            <a:ext cx="10515600" cy="457200"/>
          </a:xfrm>
          <a:prstGeom prst="rect">
            <a:avLst/>
          </a:prstGeom>
          <a:noFill/>
        </p:spPr>
        <p:txBody>
          <a:bodyPr wrap="square" anchor="t" lIns="0" rIns="0" tIns="0" bIns="0">
            <a:spAutoFit/>
          </a:bodyPr>
          <a:lstStyle/>
          <a:p>
            <a:pPr algn="l"/>
            <a:r>
              <a:rPr sz="1300" b="0" i="0">
                <a:solidFill>
                  <a:srgbClr val="556080"/>
                </a:solidFill>
                <a:latin typeface="Open Sans"/>
              </a:rPr>
              <a:t>Billed through Shopify · 7-day free trial on paid plans · card never touches LUMA</a:t>
            </a:r>
          </a:p>
        </p:txBody>
      </p:sp>
      <p:sp>
        <p:nvSpPr>
          <p:cNvPr id="6" name="Rounded Rectangle 5"/>
          <p:cNvSpPr/>
          <p:nvPr/>
        </p:nvSpPr>
        <p:spPr>
          <a:xfrm>
            <a:off x="658368" y="2331720"/>
            <a:ext cx="2670048" cy="3886200"/>
          </a:xfrm>
          <a:prstGeom prst="roundRect">
            <a:avLst>
              <a:gd name="adj" fmla="val 6000"/>
            </a:avLst>
          </a:prstGeom>
          <a:solidFill>
            <a:srgbClr val="FFFFFF"/>
          </a:solidFill>
          <a:ln w="10160">
            <a:solidFill>
              <a:srgbClr val="4466FF">
                <a:alpha val="18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560320"/>
            <a:ext cx="2121408" cy="457200"/>
          </a:xfrm>
          <a:prstGeom prst="rect">
            <a:avLst/>
          </a:prstGeom>
          <a:noFill/>
        </p:spPr>
        <p:txBody>
          <a:bodyPr wrap="square" anchor="t" lIns="0" rIns="0" tIns="0" bIns="0">
            <a:spAutoFit/>
          </a:bodyPr>
          <a:lstStyle/>
          <a:p>
            <a:pPr algn="l"/>
            <a:r>
              <a:rPr sz="1700" b="1" i="0">
                <a:solidFill>
                  <a:srgbClr val="0A0A2E"/>
                </a:solidFill>
                <a:latin typeface="Sora"/>
              </a:rPr>
              <a:t>Free</a:t>
            </a:r>
          </a:p>
        </p:txBody>
      </p:sp>
      <p:sp>
        <p:nvSpPr>
          <p:cNvPr id="8" name="TextBox 7"/>
          <p:cNvSpPr txBox="1"/>
          <p:nvPr/>
        </p:nvSpPr>
        <p:spPr>
          <a:xfrm>
            <a:off x="932688" y="2990088"/>
            <a:ext cx="2121408" cy="640080"/>
          </a:xfrm>
          <a:prstGeom prst="rect">
            <a:avLst/>
          </a:prstGeom>
          <a:noFill/>
        </p:spPr>
        <p:txBody>
          <a:bodyPr wrap="square" anchor="t" lIns="0" rIns="0" tIns="0" bIns="0">
            <a:spAutoFit/>
          </a:bodyPr>
          <a:lstStyle/>
          <a:p>
            <a:pPr algn="l"/>
            <a:r>
              <a:rPr sz="3800" b="1" i="0">
                <a:solidFill>
                  <a:srgbClr val="0A0A2E"/>
                </a:solidFill>
                <a:latin typeface="Sora"/>
              </a:rPr>
              <a:t>$0</a:t>
            </a:r>
            <a:r>
              <a:rPr sz="1400" b="0" i="0">
                <a:solidFill>
                  <a:srgbClr val="556080"/>
                </a:solidFill>
                <a:latin typeface="Open Sans"/>
              </a:rPr>
              <a:t>/mo</a:t>
            </a:r>
          </a:p>
        </p:txBody>
      </p:sp>
      <p:sp>
        <p:nvSpPr>
          <p:cNvPr id="9" name="TextBox 8"/>
          <p:cNvSpPr txBox="1"/>
          <p:nvPr/>
        </p:nvSpPr>
        <p:spPr>
          <a:xfrm>
            <a:off x="932688" y="3703320"/>
            <a:ext cx="2121408" cy="365760"/>
          </a:xfrm>
          <a:prstGeom prst="rect">
            <a:avLst/>
          </a:prstGeom>
          <a:noFill/>
        </p:spPr>
        <p:txBody>
          <a:bodyPr wrap="square" anchor="t" lIns="0" rIns="0" tIns="0" bIns="0">
            <a:spAutoFit/>
          </a:bodyPr>
          <a:lstStyle/>
          <a:p>
            <a:pPr algn="l"/>
            <a:r>
              <a:rPr sz="1200" b="1" i="0">
                <a:solidFill>
                  <a:srgbClr val="556080"/>
                </a:solidFill>
                <a:latin typeface="JetBrains Mono"/>
              </a:rPr>
              <a:t>20 chats / day</a:t>
            </a:r>
          </a:p>
        </p:txBody>
      </p:sp>
      <p:sp>
        <p:nvSpPr>
          <p:cNvPr id="10" name="TextBox 9"/>
          <p:cNvSpPr txBox="1"/>
          <p:nvPr/>
        </p:nvSpPr>
        <p:spPr>
          <a:xfrm>
            <a:off x="932688" y="4160520"/>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Instagram + Shopify chat</a:t>
            </a:r>
          </a:p>
        </p:txBody>
      </p:sp>
      <p:sp>
        <p:nvSpPr>
          <p:cNvPr id="11" name="TextBox 10"/>
          <p:cNvSpPr txBox="1"/>
          <p:nvPr/>
        </p:nvSpPr>
        <p:spPr>
          <a:xfrm>
            <a:off x="932688" y="4544568"/>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Order tracking</a:t>
            </a:r>
          </a:p>
        </p:txBody>
      </p:sp>
      <p:sp>
        <p:nvSpPr>
          <p:cNvPr id="12" name="TextBox 11"/>
          <p:cNvSpPr txBox="1"/>
          <p:nvPr/>
        </p:nvSpPr>
        <p:spPr>
          <a:xfrm>
            <a:off x="932688" y="4928616"/>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Smart pre-filtering</a:t>
            </a:r>
          </a:p>
        </p:txBody>
      </p:sp>
      <p:sp>
        <p:nvSpPr>
          <p:cNvPr id="13" name="TextBox 12"/>
          <p:cNvSpPr txBox="1"/>
          <p:nvPr/>
        </p:nvSpPr>
        <p:spPr>
          <a:xfrm>
            <a:off x="932688" y="5312664"/>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20 knowledge entries</a:t>
            </a:r>
          </a:p>
        </p:txBody>
      </p:sp>
      <p:sp>
        <p:nvSpPr>
          <p:cNvPr id="14" name="Rounded Rectangle 13"/>
          <p:cNvSpPr/>
          <p:nvPr/>
        </p:nvSpPr>
        <p:spPr>
          <a:xfrm>
            <a:off x="3493008" y="2194560"/>
            <a:ext cx="2670048" cy="4160520"/>
          </a:xfrm>
          <a:prstGeom prst="roundRect">
            <a:avLst>
              <a:gd name="adj" fmla="val 6000"/>
            </a:avLst>
          </a:prstGeom>
          <a:solidFill>
            <a:srgbClr val="4466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270248" y="1947672"/>
            <a:ext cx="1097280" cy="365760"/>
          </a:xfrm>
          <a:prstGeom prst="roundRect">
            <a:avLst>
              <a:gd name="adj" fmla="val 50000"/>
            </a:avLst>
          </a:prstGeom>
          <a:solidFill>
            <a:srgbClr val="0A0A2E"/>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900" b="1" i="0" spc="150">
                <a:solidFill>
                  <a:srgbClr val="B3CCFF"/>
                </a:solidFill>
                <a:latin typeface="JetBrains Mono"/>
              </a:rPr>
              <a:t>POPULAR</a:t>
            </a:r>
          </a:p>
        </p:txBody>
      </p:sp>
      <p:sp>
        <p:nvSpPr>
          <p:cNvPr id="16" name="TextBox 15"/>
          <p:cNvSpPr txBox="1"/>
          <p:nvPr/>
        </p:nvSpPr>
        <p:spPr>
          <a:xfrm>
            <a:off x="3767328" y="2670048"/>
            <a:ext cx="2121408" cy="457200"/>
          </a:xfrm>
          <a:prstGeom prst="rect">
            <a:avLst/>
          </a:prstGeom>
          <a:noFill/>
        </p:spPr>
        <p:txBody>
          <a:bodyPr wrap="square" anchor="t" lIns="0" rIns="0" tIns="0" bIns="0">
            <a:spAutoFit/>
          </a:bodyPr>
          <a:lstStyle/>
          <a:p>
            <a:pPr algn="l"/>
            <a:r>
              <a:rPr sz="1700" b="1" i="0">
                <a:solidFill>
                  <a:srgbClr val="FFFFFF"/>
                </a:solidFill>
                <a:latin typeface="Sora"/>
              </a:rPr>
              <a:t>Starter</a:t>
            </a:r>
          </a:p>
        </p:txBody>
      </p:sp>
      <p:sp>
        <p:nvSpPr>
          <p:cNvPr id="17" name="TextBox 16"/>
          <p:cNvSpPr txBox="1"/>
          <p:nvPr/>
        </p:nvSpPr>
        <p:spPr>
          <a:xfrm>
            <a:off x="3767328" y="3099816"/>
            <a:ext cx="2121408" cy="640080"/>
          </a:xfrm>
          <a:prstGeom prst="rect">
            <a:avLst/>
          </a:prstGeom>
          <a:noFill/>
        </p:spPr>
        <p:txBody>
          <a:bodyPr wrap="square" anchor="t" lIns="0" rIns="0" tIns="0" bIns="0">
            <a:spAutoFit/>
          </a:bodyPr>
          <a:lstStyle/>
          <a:p>
            <a:pPr algn="l"/>
            <a:r>
              <a:rPr sz="3800" b="1" i="0">
                <a:solidFill>
                  <a:srgbClr val="FFFFFF"/>
                </a:solidFill>
                <a:latin typeface="Sora"/>
              </a:rPr>
              <a:t>$29</a:t>
            </a:r>
            <a:r>
              <a:rPr sz="1400" b="0" i="0">
                <a:solidFill>
                  <a:srgbClr val="B3CCFF"/>
                </a:solidFill>
                <a:latin typeface="Open Sans"/>
              </a:rPr>
              <a:t>/mo</a:t>
            </a:r>
          </a:p>
        </p:txBody>
      </p:sp>
      <p:sp>
        <p:nvSpPr>
          <p:cNvPr id="18" name="TextBox 17"/>
          <p:cNvSpPr txBox="1"/>
          <p:nvPr/>
        </p:nvSpPr>
        <p:spPr>
          <a:xfrm>
            <a:off x="3767328" y="3813048"/>
            <a:ext cx="2121408" cy="365760"/>
          </a:xfrm>
          <a:prstGeom prst="rect">
            <a:avLst/>
          </a:prstGeom>
          <a:noFill/>
        </p:spPr>
        <p:txBody>
          <a:bodyPr wrap="square" anchor="t" lIns="0" rIns="0" tIns="0" bIns="0">
            <a:spAutoFit/>
          </a:bodyPr>
          <a:lstStyle/>
          <a:p>
            <a:pPr algn="l"/>
            <a:r>
              <a:rPr sz="1200" b="1" i="0">
                <a:solidFill>
                  <a:srgbClr val="B3CCFF"/>
                </a:solidFill>
                <a:latin typeface="JetBrains Mono"/>
              </a:rPr>
              <a:t>200 chats / day</a:t>
            </a:r>
          </a:p>
        </p:txBody>
      </p:sp>
      <p:sp>
        <p:nvSpPr>
          <p:cNvPr id="19" name="TextBox 18"/>
          <p:cNvSpPr txBox="1"/>
          <p:nvPr/>
        </p:nvSpPr>
        <p:spPr>
          <a:xfrm>
            <a:off x="3767328" y="4270248"/>
            <a:ext cx="2167128" cy="365760"/>
          </a:xfrm>
          <a:prstGeom prst="rect">
            <a:avLst/>
          </a:prstGeom>
          <a:noFill/>
        </p:spPr>
        <p:txBody>
          <a:bodyPr wrap="square" anchor="t" lIns="0" rIns="0" tIns="0" bIns="0">
            <a:spAutoFit/>
          </a:bodyPr>
          <a:lstStyle/>
          <a:p>
            <a:pPr algn="l"/>
            <a:r>
              <a:rPr sz="1100" b="1" i="0">
                <a:solidFill>
                  <a:srgbClr val="B3CCFF"/>
                </a:solidFill>
                <a:latin typeface="Open Sans"/>
              </a:rPr>
              <a:t>✓  </a:t>
            </a:r>
            <a:r>
              <a:rPr sz="1100" b="0" i="0">
                <a:solidFill>
                  <a:srgbClr val="FFFFFF"/>
                </a:solidFill>
                <a:latin typeface="Open Sans"/>
              </a:rPr>
              <a:t>Everything in Free</a:t>
            </a:r>
          </a:p>
        </p:txBody>
      </p:sp>
      <p:sp>
        <p:nvSpPr>
          <p:cNvPr id="20" name="TextBox 19"/>
          <p:cNvSpPr txBox="1"/>
          <p:nvPr/>
        </p:nvSpPr>
        <p:spPr>
          <a:xfrm>
            <a:off x="3767328" y="4654296"/>
            <a:ext cx="2167128" cy="365760"/>
          </a:xfrm>
          <a:prstGeom prst="rect">
            <a:avLst/>
          </a:prstGeom>
          <a:noFill/>
        </p:spPr>
        <p:txBody>
          <a:bodyPr wrap="square" anchor="t" lIns="0" rIns="0" tIns="0" bIns="0">
            <a:spAutoFit/>
          </a:bodyPr>
          <a:lstStyle/>
          <a:p>
            <a:pPr algn="l"/>
            <a:r>
              <a:rPr sz="1100" b="1" i="0">
                <a:solidFill>
                  <a:srgbClr val="B3CCFF"/>
                </a:solidFill>
                <a:latin typeface="Open Sans"/>
              </a:rPr>
              <a:t>✓  </a:t>
            </a:r>
            <a:r>
              <a:rPr sz="1100" b="0" i="0">
                <a:solidFill>
                  <a:srgbClr val="FFFFFF"/>
                </a:solidFill>
                <a:latin typeface="Open Sans"/>
              </a:rPr>
              <a:t>Custom auto-reply templates</a:t>
            </a:r>
          </a:p>
        </p:txBody>
      </p:sp>
      <p:sp>
        <p:nvSpPr>
          <p:cNvPr id="21" name="TextBox 20"/>
          <p:cNvSpPr txBox="1"/>
          <p:nvPr/>
        </p:nvSpPr>
        <p:spPr>
          <a:xfrm>
            <a:off x="3767328" y="5038344"/>
            <a:ext cx="2167128" cy="365760"/>
          </a:xfrm>
          <a:prstGeom prst="rect">
            <a:avLst/>
          </a:prstGeom>
          <a:noFill/>
        </p:spPr>
        <p:txBody>
          <a:bodyPr wrap="square" anchor="t" lIns="0" rIns="0" tIns="0" bIns="0">
            <a:spAutoFit/>
          </a:bodyPr>
          <a:lstStyle/>
          <a:p>
            <a:pPr algn="l"/>
            <a:r>
              <a:rPr sz="1100" b="1" i="0">
                <a:solidFill>
                  <a:srgbClr val="B3CCFF"/>
                </a:solidFill>
                <a:latin typeface="Open Sans"/>
              </a:rPr>
              <a:t>✓  </a:t>
            </a:r>
            <a:r>
              <a:rPr sz="1100" b="0" i="0">
                <a:solidFill>
                  <a:srgbClr val="FFFFFF"/>
                </a:solidFill>
                <a:latin typeface="Open Sans"/>
              </a:rPr>
              <a:t>100 knowledge entries</a:t>
            </a:r>
          </a:p>
        </p:txBody>
      </p:sp>
      <p:sp>
        <p:nvSpPr>
          <p:cNvPr id="22" name="TextBox 21"/>
          <p:cNvSpPr txBox="1"/>
          <p:nvPr/>
        </p:nvSpPr>
        <p:spPr>
          <a:xfrm>
            <a:off x="3767328" y="5422392"/>
            <a:ext cx="2167128" cy="365760"/>
          </a:xfrm>
          <a:prstGeom prst="rect">
            <a:avLst/>
          </a:prstGeom>
          <a:noFill/>
        </p:spPr>
        <p:txBody>
          <a:bodyPr wrap="square" anchor="t" lIns="0" rIns="0" tIns="0" bIns="0">
            <a:spAutoFit/>
          </a:bodyPr>
          <a:lstStyle/>
          <a:p>
            <a:pPr algn="l"/>
            <a:r>
              <a:rPr sz="1100" b="1" i="0">
                <a:solidFill>
                  <a:srgbClr val="B3CCFF"/>
                </a:solidFill>
                <a:latin typeface="Open Sans"/>
              </a:rPr>
              <a:t>✓  </a:t>
            </a:r>
            <a:r>
              <a:rPr sz="1100" b="0" i="0">
                <a:solidFill>
                  <a:srgbClr val="FFFFFF"/>
                </a:solidFill>
                <a:latin typeface="Open Sans"/>
              </a:rPr>
              <a:t>Advanced analytics</a:t>
            </a:r>
          </a:p>
        </p:txBody>
      </p:sp>
      <p:sp>
        <p:nvSpPr>
          <p:cNvPr id="23" name="Rounded Rectangle 22"/>
          <p:cNvSpPr/>
          <p:nvPr/>
        </p:nvSpPr>
        <p:spPr>
          <a:xfrm>
            <a:off x="6327648" y="2331720"/>
            <a:ext cx="2670048" cy="3886200"/>
          </a:xfrm>
          <a:prstGeom prst="roundRect">
            <a:avLst>
              <a:gd name="adj" fmla="val 6000"/>
            </a:avLst>
          </a:prstGeom>
          <a:solidFill>
            <a:srgbClr val="FFFFFF"/>
          </a:solidFill>
          <a:ln w="10160">
            <a:solidFill>
              <a:srgbClr val="4466FF">
                <a:alpha val="18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01968" y="2560320"/>
            <a:ext cx="2121408" cy="457200"/>
          </a:xfrm>
          <a:prstGeom prst="rect">
            <a:avLst/>
          </a:prstGeom>
          <a:noFill/>
        </p:spPr>
        <p:txBody>
          <a:bodyPr wrap="square" anchor="t" lIns="0" rIns="0" tIns="0" bIns="0">
            <a:spAutoFit/>
          </a:bodyPr>
          <a:lstStyle/>
          <a:p>
            <a:pPr algn="l"/>
            <a:r>
              <a:rPr sz="1700" b="1" i="0">
                <a:solidFill>
                  <a:srgbClr val="0A0A2E"/>
                </a:solidFill>
                <a:latin typeface="Sora"/>
              </a:rPr>
              <a:t>Growth</a:t>
            </a:r>
          </a:p>
        </p:txBody>
      </p:sp>
      <p:sp>
        <p:nvSpPr>
          <p:cNvPr id="25" name="TextBox 24"/>
          <p:cNvSpPr txBox="1"/>
          <p:nvPr/>
        </p:nvSpPr>
        <p:spPr>
          <a:xfrm>
            <a:off x="6601968" y="2990088"/>
            <a:ext cx="2121408" cy="640080"/>
          </a:xfrm>
          <a:prstGeom prst="rect">
            <a:avLst/>
          </a:prstGeom>
          <a:noFill/>
        </p:spPr>
        <p:txBody>
          <a:bodyPr wrap="square" anchor="t" lIns="0" rIns="0" tIns="0" bIns="0">
            <a:spAutoFit/>
          </a:bodyPr>
          <a:lstStyle/>
          <a:p>
            <a:pPr algn="l"/>
            <a:r>
              <a:rPr sz="3800" b="1" i="0">
                <a:solidFill>
                  <a:srgbClr val="0A0A2E"/>
                </a:solidFill>
                <a:latin typeface="Sora"/>
              </a:rPr>
              <a:t>$79</a:t>
            </a:r>
            <a:r>
              <a:rPr sz="1400" b="0" i="0">
                <a:solidFill>
                  <a:srgbClr val="556080"/>
                </a:solidFill>
                <a:latin typeface="Open Sans"/>
              </a:rPr>
              <a:t>/mo</a:t>
            </a:r>
          </a:p>
        </p:txBody>
      </p:sp>
      <p:sp>
        <p:nvSpPr>
          <p:cNvPr id="26" name="TextBox 25"/>
          <p:cNvSpPr txBox="1"/>
          <p:nvPr/>
        </p:nvSpPr>
        <p:spPr>
          <a:xfrm>
            <a:off x="6601968" y="3703320"/>
            <a:ext cx="2121408" cy="365760"/>
          </a:xfrm>
          <a:prstGeom prst="rect">
            <a:avLst/>
          </a:prstGeom>
          <a:noFill/>
        </p:spPr>
        <p:txBody>
          <a:bodyPr wrap="square" anchor="t" lIns="0" rIns="0" tIns="0" bIns="0">
            <a:spAutoFit/>
          </a:bodyPr>
          <a:lstStyle/>
          <a:p>
            <a:pPr algn="l"/>
            <a:r>
              <a:rPr sz="1200" b="1" i="0">
                <a:solidFill>
                  <a:srgbClr val="556080"/>
                </a:solidFill>
                <a:latin typeface="JetBrains Mono"/>
              </a:rPr>
              <a:t>600 chats / day</a:t>
            </a:r>
          </a:p>
        </p:txBody>
      </p:sp>
      <p:sp>
        <p:nvSpPr>
          <p:cNvPr id="27" name="TextBox 26"/>
          <p:cNvSpPr txBox="1"/>
          <p:nvPr/>
        </p:nvSpPr>
        <p:spPr>
          <a:xfrm>
            <a:off x="6601968" y="4160520"/>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Everything in Starter</a:t>
            </a:r>
          </a:p>
        </p:txBody>
      </p:sp>
      <p:sp>
        <p:nvSpPr>
          <p:cNvPr id="28" name="TextBox 27"/>
          <p:cNvSpPr txBox="1"/>
          <p:nvPr/>
        </p:nvSpPr>
        <p:spPr>
          <a:xfrm>
            <a:off x="6601968" y="4544568"/>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Unlimited knowledge</a:t>
            </a:r>
          </a:p>
        </p:txBody>
      </p:sp>
      <p:sp>
        <p:nvSpPr>
          <p:cNvPr id="29" name="TextBox 28"/>
          <p:cNvSpPr txBox="1"/>
          <p:nvPr/>
        </p:nvSpPr>
        <p:spPr>
          <a:xfrm>
            <a:off x="6601968" y="4928616"/>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Priority support</a:t>
            </a:r>
          </a:p>
        </p:txBody>
      </p:sp>
      <p:sp>
        <p:nvSpPr>
          <p:cNvPr id="30" name="TextBox 29"/>
          <p:cNvSpPr txBox="1"/>
          <p:nvPr/>
        </p:nvSpPr>
        <p:spPr>
          <a:xfrm>
            <a:off x="6601968" y="5312664"/>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Custom bot personality</a:t>
            </a:r>
          </a:p>
        </p:txBody>
      </p:sp>
      <p:sp>
        <p:nvSpPr>
          <p:cNvPr id="31" name="Rounded Rectangle 30"/>
          <p:cNvSpPr/>
          <p:nvPr/>
        </p:nvSpPr>
        <p:spPr>
          <a:xfrm>
            <a:off x="9162288" y="2331720"/>
            <a:ext cx="2670048" cy="3886200"/>
          </a:xfrm>
          <a:prstGeom prst="roundRect">
            <a:avLst>
              <a:gd name="adj" fmla="val 6000"/>
            </a:avLst>
          </a:prstGeom>
          <a:solidFill>
            <a:srgbClr val="FFFFFF"/>
          </a:solidFill>
          <a:ln w="10160">
            <a:solidFill>
              <a:srgbClr val="4466FF">
                <a:alpha val="18000"/>
              </a:srgbClr>
            </a:solid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36608" y="2560320"/>
            <a:ext cx="2121408" cy="457200"/>
          </a:xfrm>
          <a:prstGeom prst="rect">
            <a:avLst/>
          </a:prstGeom>
          <a:noFill/>
        </p:spPr>
        <p:txBody>
          <a:bodyPr wrap="square" anchor="t" lIns="0" rIns="0" tIns="0" bIns="0">
            <a:spAutoFit/>
          </a:bodyPr>
          <a:lstStyle/>
          <a:p>
            <a:pPr algn="l"/>
            <a:r>
              <a:rPr sz="1700" b="1" i="0">
                <a:solidFill>
                  <a:srgbClr val="0A0A2E"/>
                </a:solidFill>
                <a:latin typeface="Sora"/>
              </a:rPr>
              <a:t>Pro</a:t>
            </a:r>
          </a:p>
        </p:txBody>
      </p:sp>
      <p:sp>
        <p:nvSpPr>
          <p:cNvPr id="33" name="TextBox 32"/>
          <p:cNvSpPr txBox="1"/>
          <p:nvPr/>
        </p:nvSpPr>
        <p:spPr>
          <a:xfrm>
            <a:off x="9436608" y="2990088"/>
            <a:ext cx="2121408" cy="640080"/>
          </a:xfrm>
          <a:prstGeom prst="rect">
            <a:avLst/>
          </a:prstGeom>
          <a:noFill/>
        </p:spPr>
        <p:txBody>
          <a:bodyPr wrap="square" anchor="t" lIns="0" rIns="0" tIns="0" bIns="0">
            <a:spAutoFit/>
          </a:bodyPr>
          <a:lstStyle/>
          <a:p>
            <a:pPr algn="l"/>
            <a:r>
              <a:rPr sz="3800" b="1" i="0">
                <a:solidFill>
                  <a:srgbClr val="0A0A2E"/>
                </a:solidFill>
                <a:latin typeface="Sora"/>
              </a:rPr>
              <a:t>$149</a:t>
            </a:r>
            <a:r>
              <a:rPr sz="1400" b="0" i="0">
                <a:solidFill>
                  <a:srgbClr val="556080"/>
                </a:solidFill>
                <a:latin typeface="Open Sans"/>
              </a:rPr>
              <a:t>/mo</a:t>
            </a:r>
          </a:p>
        </p:txBody>
      </p:sp>
      <p:sp>
        <p:nvSpPr>
          <p:cNvPr id="34" name="TextBox 33"/>
          <p:cNvSpPr txBox="1"/>
          <p:nvPr/>
        </p:nvSpPr>
        <p:spPr>
          <a:xfrm>
            <a:off x="9436608" y="3703320"/>
            <a:ext cx="2121408" cy="365760"/>
          </a:xfrm>
          <a:prstGeom prst="rect">
            <a:avLst/>
          </a:prstGeom>
          <a:noFill/>
        </p:spPr>
        <p:txBody>
          <a:bodyPr wrap="square" anchor="t" lIns="0" rIns="0" tIns="0" bIns="0">
            <a:spAutoFit/>
          </a:bodyPr>
          <a:lstStyle/>
          <a:p>
            <a:pPr algn="l"/>
            <a:r>
              <a:rPr sz="1200" b="1" i="0">
                <a:solidFill>
                  <a:srgbClr val="556080"/>
                </a:solidFill>
                <a:latin typeface="JetBrains Mono"/>
              </a:rPr>
              <a:t>1,500 chats / day</a:t>
            </a:r>
          </a:p>
        </p:txBody>
      </p:sp>
      <p:sp>
        <p:nvSpPr>
          <p:cNvPr id="35" name="TextBox 34"/>
          <p:cNvSpPr txBox="1"/>
          <p:nvPr/>
        </p:nvSpPr>
        <p:spPr>
          <a:xfrm>
            <a:off x="9436608" y="4160520"/>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Everything in Growth</a:t>
            </a:r>
          </a:p>
        </p:txBody>
      </p:sp>
      <p:sp>
        <p:nvSpPr>
          <p:cNvPr id="36" name="TextBox 35"/>
          <p:cNvSpPr txBox="1"/>
          <p:nvPr/>
        </p:nvSpPr>
        <p:spPr>
          <a:xfrm>
            <a:off x="9436608" y="4544568"/>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Hands-on onboarding</a:t>
            </a:r>
          </a:p>
        </p:txBody>
      </p:sp>
      <p:sp>
        <p:nvSpPr>
          <p:cNvPr id="37" name="TextBox 36"/>
          <p:cNvSpPr txBox="1"/>
          <p:nvPr/>
        </p:nvSpPr>
        <p:spPr>
          <a:xfrm>
            <a:off x="9436608" y="4928616"/>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Direct Slack support</a:t>
            </a:r>
          </a:p>
        </p:txBody>
      </p:sp>
      <p:sp>
        <p:nvSpPr>
          <p:cNvPr id="38" name="TextBox 37"/>
          <p:cNvSpPr txBox="1"/>
          <p:nvPr/>
        </p:nvSpPr>
        <p:spPr>
          <a:xfrm>
            <a:off x="9436608" y="5312664"/>
            <a:ext cx="2167128" cy="365760"/>
          </a:xfrm>
          <a:prstGeom prst="rect">
            <a:avLst/>
          </a:prstGeom>
          <a:noFill/>
        </p:spPr>
        <p:txBody>
          <a:bodyPr wrap="square" anchor="t" lIns="0" rIns="0" tIns="0" bIns="0">
            <a:spAutoFit/>
          </a:bodyPr>
          <a:lstStyle/>
          <a:p>
            <a:pPr algn="l"/>
            <a:r>
              <a:rPr sz="1100" b="1" i="0">
                <a:solidFill>
                  <a:srgbClr val="4466FF"/>
                </a:solidFill>
                <a:latin typeface="Open Sans"/>
              </a:rPr>
              <a:t>✓  </a:t>
            </a:r>
            <a:r>
              <a:rPr sz="1100" b="0" i="0">
                <a:solidFill>
                  <a:srgbClr val="556080"/>
                </a:solidFill>
                <a:latin typeface="Open Sans"/>
              </a:rPr>
              <a:t>Early access features</a:t>
            </a:r>
          </a:p>
        </p:txBody>
      </p:sp>
      <p:sp>
        <p:nvSpPr>
          <p:cNvPr id="39" name="Rounded Rectangle 38">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40" name="TextBox 39"/>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556080"/>
                </a:solidFill>
                <a:latin typeface="JetBrains Mono"/>
              </a:rPr>
              <a:t>10 / 13</a:t>
            </a:r>
          </a:p>
        </p:txBody>
      </p:sp>
    </p:spTree>
  </p:cSld>
  <p:clrMapOvr>
    <a:masterClrMapping/>
  </p:clrMapOvr>
  <p:transition spd="med">
    <p:push dir="u"/>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868680"/>
            <a:ext cx="7315200" cy="365760"/>
          </a:xfrm>
          <a:prstGeom prst="rect">
            <a:avLst/>
          </a:prstGeom>
          <a:noFill/>
        </p:spPr>
        <p:txBody>
          <a:bodyPr wrap="square" anchor="t" lIns="0" rIns="0" tIns="0" bIns="0">
            <a:spAutoFit/>
          </a:bodyPr>
          <a:lstStyle/>
          <a:p>
            <a:pPr algn="l"/>
            <a:r>
              <a:rPr sz="1250" b="1" i="0" spc="260">
                <a:solidFill>
                  <a:srgbClr val="7AA8FF"/>
                </a:solidFill>
                <a:latin typeface="JetBrains Mono"/>
              </a:rPr>
              <a:t>09 · SECURITY &amp; TRUST</a:t>
            </a:r>
          </a:p>
        </p:txBody>
      </p:sp>
      <p:sp>
        <p:nvSpPr>
          <p:cNvPr id="4" name="TextBox 3"/>
          <p:cNvSpPr txBox="1"/>
          <p:nvPr/>
        </p:nvSpPr>
        <p:spPr>
          <a:xfrm>
            <a:off x="731520" y="1234440"/>
            <a:ext cx="10515600" cy="914400"/>
          </a:xfrm>
          <a:prstGeom prst="rect">
            <a:avLst/>
          </a:prstGeom>
          <a:noFill/>
        </p:spPr>
        <p:txBody>
          <a:bodyPr wrap="square" anchor="t" lIns="0" rIns="0" tIns="0" bIns="0">
            <a:spAutoFit/>
          </a:bodyPr>
          <a:lstStyle/>
          <a:p>
            <a:pPr algn="l"/>
            <a:r>
              <a:rPr sz="3800" b="1" i="0">
                <a:solidFill>
                  <a:srgbClr val="FFFFFF"/>
                </a:solidFill>
                <a:latin typeface="Sora"/>
              </a:rPr>
              <a:t>Your data is </a:t>
            </a:r>
            <a:r>
              <a:rPr sz="3800" b="1" i="0">
                <a:solidFill>
                  <a:srgbClr val="7AA8FF"/>
                </a:solidFill>
                <a:latin typeface="Sora"/>
              </a:rPr>
              <a:t>protected by design</a:t>
            </a:r>
          </a:p>
        </p:txBody>
      </p:sp>
      <p:sp>
        <p:nvSpPr>
          <p:cNvPr id="5" name="Rounded Rectangle 4"/>
          <p:cNvSpPr/>
          <p:nvPr/>
        </p:nvSpPr>
        <p:spPr>
          <a:xfrm>
            <a:off x="731520" y="2606040"/>
            <a:ext cx="5349240" cy="1691640"/>
          </a:xfrm>
          <a:prstGeom prst="roundRect">
            <a:avLst>
              <a:gd name="adj" fmla="val 9000"/>
            </a:avLst>
          </a:prstGeom>
          <a:solidFill>
            <a:srgbClr val="080330">
              <a:alpha val="5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880360"/>
            <a:ext cx="914400" cy="731520"/>
          </a:xfrm>
          <a:prstGeom prst="rect">
            <a:avLst/>
          </a:prstGeom>
          <a:noFill/>
        </p:spPr>
        <p:txBody>
          <a:bodyPr wrap="square" anchor="t" lIns="0" rIns="0" tIns="0" bIns="0">
            <a:spAutoFit/>
          </a:bodyPr>
          <a:lstStyle/>
          <a:p>
            <a:pPr algn="l"/>
            <a:r>
              <a:rPr sz="3200" b="0" i="0">
                <a:solidFill>
                  <a:srgbClr val="7AA8FF"/>
                </a:solidFill>
                <a:latin typeface="Open Sans"/>
              </a:rPr>
              <a:t>🔐</a:t>
            </a:r>
          </a:p>
        </p:txBody>
      </p:sp>
      <p:sp>
        <p:nvSpPr>
          <p:cNvPr id="7" name="TextBox 6"/>
          <p:cNvSpPr txBox="1"/>
          <p:nvPr/>
        </p:nvSpPr>
        <p:spPr>
          <a:xfrm>
            <a:off x="2011680" y="2898648"/>
            <a:ext cx="3794760" cy="1188720"/>
          </a:xfrm>
          <a:prstGeom prst="rect">
            <a:avLst/>
          </a:prstGeom>
          <a:noFill/>
        </p:spPr>
        <p:txBody>
          <a:bodyPr wrap="square" anchor="t" lIns="0" rIns="0" tIns="0" bIns="0">
            <a:spAutoFit/>
          </a:bodyPr>
          <a:lstStyle/>
          <a:p>
            <a:pPr algn="l">
              <a:lnSpc>
                <a:spcPct val="108000"/>
              </a:lnSpc>
              <a:spcAft>
                <a:spcPts val="400"/>
              </a:spcAft>
            </a:pPr>
            <a:r>
              <a:rPr sz="1700" b="1" i="0">
                <a:solidFill>
                  <a:srgbClr val="FFFFFF"/>
                </a:solidFill>
                <a:latin typeface="Sora"/>
              </a:rPr>
              <a:t>Per-tenant isolation</a:t>
            </a:r>
          </a:p>
          <a:p>
            <a:pPr algn="l">
              <a:lnSpc>
                <a:spcPct val="108000"/>
              </a:lnSpc>
              <a:spcAft>
                <a:spcPts val="400"/>
              </a:spcAft>
            </a:pPr>
            <a:r>
              <a:rPr sz="1250" b="0" i="0">
                <a:solidFill>
                  <a:srgbClr val="B3C2E0"/>
                </a:solidFill>
                <a:latin typeface="Open Sans"/>
              </a:rPr>
              <a:t>Every store’s data is fully separated — never shared or co-mingled.</a:t>
            </a:r>
          </a:p>
        </p:txBody>
      </p:sp>
      <p:sp>
        <p:nvSpPr>
          <p:cNvPr id="8" name="Rounded Rectangle 7"/>
          <p:cNvSpPr/>
          <p:nvPr/>
        </p:nvSpPr>
        <p:spPr>
          <a:xfrm>
            <a:off x="6355080" y="2606040"/>
            <a:ext cx="5349240" cy="1691640"/>
          </a:xfrm>
          <a:prstGeom prst="roundRect">
            <a:avLst>
              <a:gd name="adj" fmla="val 9000"/>
            </a:avLst>
          </a:prstGeom>
          <a:solidFill>
            <a:srgbClr val="080330">
              <a:alpha val="5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880360"/>
            <a:ext cx="914400" cy="731520"/>
          </a:xfrm>
          <a:prstGeom prst="rect">
            <a:avLst/>
          </a:prstGeom>
          <a:noFill/>
        </p:spPr>
        <p:txBody>
          <a:bodyPr wrap="square" anchor="t" lIns="0" rIns="0" tIns="0" bIns="0">
            <a:spAutoFit/>
          </a:bodyPr>
          <a:lstStyle/>
          <a:p>
            <a:pPr algn="l"/>
            <a:r>
              <a:rPr sz="3200" b="0" i="0">
                <a:solidFill>
                  <a:srgbClr val="7AA8FF"/>
                </a:solidFill>
                <a:latin typeface="Open Sans"/>
              </a:rPr>
              <a:t>🔒</a:t>
            </a:r>
          </a:p>
        </p:txBody>
      </p:sp>
      <p:sp>
        <p:nvSpPr>
          <p:cNvPr id="10" name="TextBox 9"/>
          <p:cNvSpPr txBox="1"/>
          <p:nvPr/>
        </p:nvSpPr>
        <p:spPr>
          <a:xfrm>
            <a:off x="7635240" y="2898648"/>
            <a:ext cx="3794760" cy="1188720"/>
          </a:xfrm>
          <a:prstGeom prst="rect">
            <a:avLst/>
          </a:prstGeom>
          <a:noFill/>
        </p:spPr>
        <p:txBody>
          <a:bodyPr wrap="square" anchor="t" lIns="0" rIns="0" tIns="0" bIns="0">
            <a:spAutoFit/>
          </a:bodyPr>
          <a:lstStyle/>
          <a:p>
            <a:pPr algn="l">
              <a:lnSpc>
                <a:spcPct val="108000"/>
              </a:lnSpc>
              <a:spcAft>
                <a:spcPts val="400"/>
              </a:spcAft>
            </a:pPr>
            <a:r>
              <a:rPr sz="1700" b="1" i="0">
                <a:solidFill>
                  <a:srgbClr val="FFFFFF"/>
                </a:solidFill>
                <a:latin typeface="Sora"/>
              </a:rPr>
              <a:t>HTTPS-only &amp; OAuth-scoped</a:t>
            </a:r>
          </a:p>
          <a:p>
            <a:pPr algn="l">
              <a:lnSpc>
                <a:spcPct val="108000"/>
              </a:lnSpc>
              <a:spcAft>
                <a:spcPts val="400"/>
              </a:spcAft>
            </a:pPr>
            <a:r>
              <a:rPr sz="1250" b="0" i="0">
                <a:solidFill>
                  <a:srgbClr val="B3C2E0"/>
                </a:solidFill>
                <a:latin typeface="Open Sans"/>
              </a:rPr>
              <a:t>Encrypted in transit; access limited to exactly what’s authorised.</a:t>
            </a:r>
          </a:p>
        </p:txBody>
      </p:sp>
      <p:sp>
        <p:nvSpPr>
          <p:cNvPr id="11" name="Rounded Rectangle 10"/>
          <p:cNvSpPr/>
          <p:nvPr/>
        </p:nvSpPr>
        <p:spPr>
          <a:xfrm>
            <a:off x="731520" y="4572000"/>
            <a:ext cx="5349240" cy="1691640"/>
          </a:xfrm>
          <a:prstGeom prst="roundRect">
            <a:avLst>
              <a:gd name="adj" fmla="val 9000"/>
            </a:avLst>
          </a:prstGeom>
          <a:solidFill>
            <a:srgbClr val="080330">
              <a:alpha val="5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846320"/>
            <a:ext cx="914400" cy="731520"/>
          </a:xfrm>
          <a:prstGeom prst="rect">
            <a:avLst/>
          </a:prstGeom>
          <a:noFill/>
        </p:spPr>
        <p:txBody>
          <a:bodyPr wrap="square" anchor="t" lIns="0" rIns="0" tIns="0" bIns="0">
            <a:spAutoFit/>
          </a:bodyPr>
          <a:lstStyle/>
          <a:p>
            <a:pPr algn="l"/>
            <a:r>
              <a:rPr sz="3200" b="0" i="0">
                <a:solidFill>
                  <a:srgbClr val="7AA8FF"/>
                </a:solidFill>
                <a:latin typeface="Open Sans"/>
              </a:rPr>
              <a:t>💳</a:t>
            </a:r>
          </a:p>
        </p:txBody>
      </p:sp>
      <p:sp>
        <p:nvSpPr>
          <p:cNvPr id="13" name="TextBox 12"/>
          <p:cNvSpPr txBox="1"/>
          <p:nvPr/>
        </p:nvSpPr>
        <p:spPr>
          <a:xfrm>
            <a:off x="2011680" y="4864608"/>
            <a:ext cx="3794760" cy="1188720"/>
          </a:xfrm>
          <a:prstGeom prst="rect">
            <a:avLst/>
          </a:prstGeom>
          <a:noFill/>
        </p:spPr>
        <p:txBody>
          <a:bodyPr wrap="square" anchor="t" lIns="0" rIns="0" tIns="0" bIns="0">
            <a:spAutoFit/>
          </a:bodyPr>
          <a:lstStyle/>
          <a:p>
            <a:pPr algn="l">
              <a:lnSpc>
                <a:spcPct val="108000"/>
              </a:lnSpc>
              <a:spcAft>
                <a:spcPts val="400"/>
              </a:spcAft>
            </a:pPr>
            <a:r>
              <a:rPr sz="1700" b="1" i="0">
                <a:solidFill>
                  <a:srgbClr val="FFFFFF"/>
                </a:solidFill>
                <a:latin typeface="Sora"/>
              </a:rPr>
              <a:t>Card data never touches LUMA</a:t>
            </a:r>
          </a:p>
          <a:p>
            <a:pPr algn="l">
              <a:lnSpc>
                <a:spcPct val="108000"/>
              </a:lnSpc>
              <a:spcAft>
                <a:spcPts val="400"/>
              </a:spcAft>
            </a:pPr>
            <a:r>
              <a:rPr sz="1250" b="0" i="0">
                <a:solidFill>
                  <a:srgbClr val="B3C2E0"/>
                </a:solidFill>
                <a:latin typeface="Open Sans"/>
              </a:rPr>
              <a:t>All billing runs through Shopify’s native, PCI-compliant system.</a:t>
            </a:r>
          </a:p>
        </p:txBody>
      </p:sp>
      <p:sp>
        <p:nvSpPr>
          <p:cNvPr id="14" name="Rounded Rectangle 13"/>
          <p:cNvSpPr/>
          <p:nvPr/>
        </p:nvSpPr>
        <p:spPr>
          <a:xfrm>
            <a:off x="6355080" y="4572000"/>
            <a:ext cx="5349240" cy="1691640"/>
          </a:xfrm>
          <a:prstGeom prst="roundRect">
            <a:avLst>
              <a:gd name="adj" fmla="val 9000"/>
            </a:avLst>
          </a:prstGeom>
          <a:solidFill>
            <a:srgbClr val="080330">
              <a:alpha val="55000"/>
            </a:srgbClr>
          </a:solidFill>
          <a:ln w="9525">
            <a:solidFill>
              <a:srgbClr val="4466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4846320"/>
            <a:ext cx="914400" cy="731520"/>
          </a:xfrm>
          <a:prstGeom prst="rect">
            <a:avLst/>
          </a:prstGeom>
          <a:noFill/>
        </p:spPr>
        <p:txBody>
          <a:bodyPr wrap="square" anchor="t" lIns="0" rIns="0" tIns="0" bIns="0">
            <a:spAutoFit/>
          </a:bodyPr>
          <a:lstStyle/>
          <a:p>
            <a:pPr algn="l"/>
            <a:r>
              <a:rPr sz="3200" b="0" i="0">
                <a:solidFill>
                  <a:srgbClr val="7AA8FF"/>
                </a:solidFill>
                <a:latin typeface="Open Sans"/>
              </a:rPr>
              <a:t>📜</a:t>
            </a:r>
          </a:p>
        </p:txBody>
      </p:sp>
      <p:sp>
        <p:nvSpPr>
          <p:cNvPr id="16" name="TextBox 15"/>
          <p:cNvSpPr txBox="1"/>
          <p:nvPr/>
        </p:nvSpPr>
        <p:spPr>
          <a:xfrm>
            <a:off x="7635240" y="4864608"/>
            <a:ext cx="3794760" cy="1188720"/>
          </a:xfrm>
          <a:prstGeom prst="rect">
            <a:avLst/>
          </a:prstGeom>
          <a:noFill/>
        </p:spPr>
        <p:txBody>
          <a:bodyPr wrap="square" anchor="t" lIns="0" rIns="0" tIns="0" bIns="0">
            <a:spAutoFit/>
          </a:bodyPr>
          <a:lstStyle/>
          <a:p>
            <a:pPr algn="l">
              <a:lnSpc>
                <a:spcPct val="108000"/>
              </a:lnSpc>
              <a:spcAft>
                <a:spcPts val="400"/>
              </a:spcAft>
            </a:pPr>
            <a:r>
              <a:rPr sz="1700" b="1" i="0">
                <a:solidFill>
                  <a:srgbClr val="FFFFFF"/>
                </a:solidFill>
                <a:latin typeface="Sora"/>
              </a:rPr>
              <a:t>GDPR webhooks honored</a:t>
            </a:r>
          </a:p>
          <a:p>
            <a:pPr algn="l">
              <a:lnSpc>
                <a:spcPct val="108000"/>
              </a:lnSpc>
              <a:spcAft>
                <a:spcPts val="400"/>
              </a:spcAft>
            </a:pPr>
            <a:r>
              <a:rPr sz="1250" b="0" i="0">
                <a:solidFill>
                  <a:srgbClr val="B3C2E0"/>
                </a:solidFill>
                <a:latin typeface="Open Sans"/>
              </a:rPr>
              <a:t>Shopify data-deletion &amp; access requests respected automatically.</a:t>
            </a:r>
          </a:p>
        </p:txBody>
      </p:sp>
      <p:sp>
        <p:nvSpPr>
          <p:cNvPr id="17" name="Rounded Rectangle 16">
            <a:hlinkClick r:id="rId3" action="ppaction://hlinksldjump"/>
          </p:cNvPr>
          <p:cNvSpPr/>
          <p:nvPr/>
        </p:nvSpPr>
        <p:spPr>
          <a:xfrm>
            <a:off x="411480" y="6327648"/>
            <a:ext cx="1051560" cy="384048"/>
          </a:xfrm>
          <a:prstGeom prst="roundRect">
            <a:avLst>
              <a:gd name="adj" fmla="val 50000"/>
            </a:avLst>
          </a:prstGeom>
          <a:noFill/>
          <a:ln w="12700">
            <a:solidFill>
              <a:srgbClr val="7AA8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50" b="1" i="0">
                <a:solidFill>
                  <a:srgbClr val="7AA8FF"/>
                </a:solidFill>
                <a:latin typeface="JetBrains Mono"/>
              </a:rPr>
              <a:t>☰  Menu</a:t>
            </a:r>
          </a:p>
        </p:txBody>
      </p:sp>
      <p:sp>
        <p:nvSpPr>
          <p:cNvPr id="18" name="TextBox 17"/>
          <p:cNvSpPr txBox="1"/>
          <p:nvPr/>
        </p:nvSpPr>
        <p:spPr>
          <a:xfrm>
            <a:off x="10881360" y="6355080"/>
            <a:ext cx="914400" cy="365760"/>
          </a:xfrm>
          <a:prstGeom prst="rect">
            <a:avLst/>
          </a:prstGeom>
          <a:noFill/>
        </p:spPr>
        <p:txBody>
          <a:bodyPr wrap="square" anchor="t" lIns="0" rIns="0" tIns="0" bIns="0">
            <a:spAutoFit/>
          </a:bodyPr>
          <a:lstStyle/>
          <a:p>
            <a:pPr algn="r"/>
            <a:r>
              <a:rPr sz="1000" b="0" i="0">
                <a:solidFill>
                  <a:srgbClr val="B3C2E0"/>
                </a:solidFill>
                <a:latin typeface="JetBrains Mono"/>
              </a:rPr>
              <a:t>11 / 13</a:t>
            </a:r>
          </a:p>
        </p:txBody>
      </p:sp>
    </p:spTree>
  </p:cSld>
  <p:clrMapOvr>
    <a:masterClrMapping/>
  </p:clrMapOvr>
  <p:transition spd="med">
    <p:split orient="horz" dir="in"/>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ta.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550408" y="868680"/>
            <a:ext cx="1428750" cy="1005840"/>
          </a:xfrm>
          <a:prstGeom prst="rect">
            <a:avLst/>
          </a:prstGeom>
        </p:spPr>
      </p:pic>
      <p:sp>
        <p:nvSpPr>
          <p:cNvPr id="4" name="TextBox 3"/>
          <p:cNvSpPr txBox="1"/>
          <p:nvPr/>
        </p:nvSpPr>
        <p:spPr>
          <a:xfrm>
            <a:off x="914400" y="2057400"/>
            <a:ext cx="10360152" cy="1371600"/>
          </a:xfrm>
          <a:prstGeom prst="rect">
            <a:avLst/>
          </a:prstGeom>
          <a:noFill/>
        </p:spPr>
        <p:txBody>
          <a:bodyPr wrap="square" anchor="t" lIns="0" rIns="0" tIns="0" bIns="0">
            <a:spAutoFit/>
          </a:bodyPr>
          <a:lstStyle/>
          <a:p>
            <a:pPr algn="ctr">
              <a:lnSpc>
                <a:spcPct val="110000"/>
              </a:lnSpc>
              <a:spcAft>
                <a:spcPts val="800"/>
              </a:spcAft>
            </a:pPr>
            <a:r>
              <a:rPr sz="4200" b="1" i="0">
                <a:solidFill>
                  <a:srgbClr val="FFFFFF"/>
                </a:solidFill>
                <a:latin typeface="Sora"/>
              </a:rPr>
              <a:t>Never lose a sale to silence again</a:t>
            </a:r>
          </a:p>
          <a:p>
            <a:pPr algn="ctr">
              <a:lnSpc>
                <a:spcPct val="110000"/>
              </a:lnSpc>
              <a:spcAft>
                <a:spcPts val="800"/>
              </a:spcAft>
            </a:pPr>
            <a:r>
              <a:rPr sz="2000" b="0" i="1">
                <a:solidFill>
                  <a:srgbClr val="FFFFFF"/>
                </a:solidFill>
                <a:latin typeface="Instrument Serif"/>
              </a:rPr>
              <a:t>Start free today — live in your store this afternoon.</a:t>
            </a:r>
          </a:p>
        </p:txBody>
      </p:sp>
      <p:sp>
        <p:nvSpPr>
          <p:cNvPr id="5" name="Rounded Rectangle 4">
            <a:hlinkClick r:id="rId4"/>
          </p:cNvPr>
          <p:cNvSpPr/>
          <p:nvPr/>
        </p:nvSpPr>
        <p:spPr>
          <a:xfrm>
            <a:off x="3520440" y="3886200"/>
            <a:ext cx="2468880" cy="658368"/>
          </a:xfrm>
          <a:prstGeom prst="roundRect">
            <a:avLst>
              <a:gd name="adj" fmla="val 50000"/>
            </a:avLst>
          </a:prstGeom>
          <a:solidFill>
            <a:srgbClr val="FFFFFF"/>
          </a:solidFill>
          <a:ln>
            <a:noFill/>
          </a:ln>
          <a:effectLst/>
          <a:effectLst>
            <a:outerShdw blurRad="180000" dist="90000" dir="5400000" rotWithShape="0">
              <a:srgbClr val="1A1A6E">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500" b="1" i="0">
                <a:solidFill>
                  <a:srgbClr val="4466FF"/>
                </a:solidFill>
                <a:latin typeface="Sora"/>
              </a:rPr>
              <a:t>Request access  →</a:t>
            </a:r>
          </a:p>
        </p:txBody>
      </p:sp>
      <p:sp>
        <p:nvSpPr>
          <p:cNvPr id="6" name="Rounded Rectangle 5">
            <a:hlinkClick r:id="rId5"/>
          </p:cNvPr>
          <p:cNvSpPr/>
          <p:nvPr/>
        </p:nvSpPr>
        <p:spPr>
          <a:xfrm>
            <a:off x="6199632" y="3886200"/>
            <a:ext cx="2468880" cy="658368"/>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500" b="1" i="0">
                <a:solidFill>
                  <a:srgbClr val="FFFFFF"/>
                </a:solidFill>
                <a:latin typeface="Sora"/>
              </a:rPr>
              <a:t>Email us</a:t>
            </a:r>
          </a:p>
        </p:txBody>
      </p:sp>
      <p:sp>
        <p:nvSpPr>
          <p:cNvPr id="7" name="TextBox 6"/>
          <p:cNvSpPr txBox="1"/>
          <p:nvPr/>
        </p:nvSpPr>
        <p:spPr>
          <a:xfrm>
            <a:off x="914400" y="5029200"/>
            <a:ext cx="10360152" cy="548640"/>
          </a:xfrm>
          <a:prstGeom prst="rect">
            <a:avLst/>
          </a:prstGeom>
          <a:noFill/>
        </p:spPr>
        <p:txBody>
          <a:bodyPr wrap="square" anchor="t" lIns="0" rIns="0" tIns="0" bIns="0">
            <a:spAutoFit/>
          </a:bodyPr>
          <a:lstStyle/>
          <a:p>
            <a:pPr algn="ctr"/>
            <a:r>
              <a:rPr sz="1500" b="1" i="0">
                <a:solidFill>
                  <a:srgbClr val="FFFFFF"/>
                </a:solidFill>
                <a:latin typeface="JetBrains Mono"/>
              </a:rPr>
              <a:t>luma-bot.com</a:t>
            </a:r>
            <a:r>
              <a:rPr sz="1500" b="0" i="0">
                <a:solidFill>
                  <a:srgbClr val="B3CCFF"/>
                </a:solidFill>
                <a:latin typeface="JetBrains Mono"/>
              </a:rPr>
              <a:t>     ·     </a:t>
            </a:r>
            <a:r>
              <a:rPr sz="1500" b="1" i="0">
                <a:solidFill>
                  <a:srgbClr val="FFFFFF"/>
                </a:solidFill>
                <a:latin typeface="JetBrains Mono"/>
              </a:rPr>
              <a:t>hello@luma-bot.com</a:t>
            </a:r>
          </a:p>
        </p:txBody>
      </p:sp>
      <p:sp>
        <p:nvSpPr>
          <p:cNvPr id="8" name="TextBox 7"/>
          <p:cNvSpPr txBox="1"/>
          <p:nvPr/>
        </p:nvSpPr>
        <p:spPr>
          <a:xfrm>
            <a:off x="914400" y="5669280"/>
            <a:ext cx="10360152" cy="457200"/>
          </a:xfrm>
          <a:prstGeom prst="rect">
            <a:avLst/>
          </a:prstGeom>
          <a:noFill/>
        </p:spPr>
        <p:txBody>
          <a:bodyPr wrap="square" anchor="t" lIns="0" rIns="0" tIns="0" bIns="0">
            <a:spAutoFit/>
          </a:bodyPr>
          <a:lstStyle/>
          <a:p>
            <a:pPr algn="ctr"/>
            <a:r>
              <a:rPr sz="1200" b="0" i="0" spc="150">
                <a:solidFill>
                  <a:srgbClr val="B3CCFF"/>
                </a:solidFill>
                <a:latin typeface="JetBrains Mono"/>
              </a:rPr>
              <a:t>Private beta · limited onboarding · powered by Claude</a:t>
            </a:r>
          </a:p>
        </p:txBody>
      </p:sp>
      <p:sp>
        <p:nvSpPr>
          <p:cNvPr id="9" name="Rounded Rectangle 8">
            <a:hlinkClick r:id="rId6" action="ppaction://hlinksldjump"/>
          </p:cNvPr>
          <p:cNvSpPr/>
          <p:nvPr/>
        </p:nvSpPr>
        <p:spPr>
          <a:xfrm>
            <a:off x="5358384" y="6172200"/>
            <a:ext cx="1463040" cy="411480"/>
          </a:xfrm>
          <a:prstGeom prst="roundRect">
            <a:avLst>
              <a:gd name="adj" fmla="val 50000"/>
            </a:avLst>
          </a:prstGeom>
          <a:noFill/>
          <a:ln w="12700">
            <a:solidFill>
              <a:srgbClr val="FFFF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r>
              <a:rPr sz="1000" b="1" i="0">
                <a:solidFill>
                  <a:srgbClr val="FFFFFF"/>
                </a:solidFill>
                <a:latin typeface="JetBrains Mono"/>
              </a:rPr>
              <a:t>☰  Back to menu</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