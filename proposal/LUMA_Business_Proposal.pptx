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" Target="slide10.xml"/><Relationship Id="rId11" Type="http://schemas.openxmlformats.org/officeDocument/2006/relationships/slide" Target="slide11.xml"/><Relationship Id="rId12" Type="http://schemas.openxmlformats.org/officeDocument/2006/relationships/slide" Target="slide12.xml"/><Relationship Id="rId13" Type="http://schemas.openxmlformats.org/officeDocument/2006/relationships/slide" Target="slide13.xml"/><Relationship Id="rId14" Type="http://schemas.openxmlformats.org/officeDocument/2006/relationships/slide" Target="slide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hyperlink" Target="https://luma-bot.com" TargetMode="External"/><Relationship Id="rId5" Type="http://schemas.openxmlformats.org/officeDocument/2006/relationships/hyperlink" Target="mailto:hello@luma-bot.com" TargetMode="External"/><Relationship Id="rId6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1051560"/>
            <a:ext cx="1883352" cy="1325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95728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 spc="800">
                <a:solidFill>
                  <a:srgbClr val="FFFFFF"/>
                </a:solidFill>
                <a:latin typeface="Sora"/>
              </a:rPr>
              <a:t>LUMA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07792"/>
            <a:ext cx="103601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ora"/>
              </a:rPr>
              <a:t>The AI teammate behind </a:t>
            </a:r>
            <a:r>
              <a:rPr sz="4000" b="1" i="0">
                <a:solidFill>
                  <a:srgbClr val="7AA8FF"/>
                </a:solidFill>
                <a:latin typeface="Sora"/>
              </a:rPr>
              <a:t>every DM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700" b="0" i="1">
                <a:solidFill>
                  <a:srgbClr val="B3CCFF"/>
                </a:solidFill>
                <a:latin typeface="Instrument Serif"/>
              </a:rPr>
              <a:t>— in the language they wrote to you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452628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080330">
              <a:alpha val="55000"/>
            </a:srgbClr>
          </a:solidFill>
          <a:ln w="12700">
            <a:solidFill>
              <a:srgbClr val="4466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250" b="1" i="0" spc="160">
                <a:solidFill>
                  <a:srgbClr val="B3CCFF"/>
                </a:solidFill>
                <a:latin typeface="JetBrains Mono"/>
              </a:rPr>
              <a:t>BUSINESS PROPOSAL  ·  AI CUSTOMER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B3C2E0"/>
                </a:solidFill>
                <a:latin typeface="Open Sans"/>
              </a:rPr>
              <a:t>Prepared for forward-thinking local businesses</a:t>
            </a:r>
          </a:p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7AA8FF"/>
                </a:solidFill>
                <a:latin typeface="JetBrains Mono"/>
              </a:rPr>
              <a:t>luma-bot.com</a:t>
            </a: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4992624" y="594360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4466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ora"/>
              </a:rPr>
              <a:t>Explore the proposal  →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"/>
            <a:ext cx="64943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0515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ora"/>
              </a:rPr>
              <a:t>What’s inside</a:t>
            </a:r>
          </a:p>
        </p:txBody>
      </p:sp>
      <p:sp>
        <p:nvSpPr>
          <p:cNvPr id="6" name="Rounded Rectangle 5">
            <a:hlinkClick r:id="rId4" action="ppaction://hlinksldjump"/>
          </p:cNvPr>
          <p:cNvSpPr/>
          <p:nvPr/>
        </p:nvSpPr>
        <p:spPr>
          <a:xfrm>
            <a:off x="731520" y="2212848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9514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The problem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DMs pile up, replies lag, sales slip away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731520" y="2926080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0358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008376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Meet LUMA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Your always-on AI teammate</a:t>
            </a:r>
          </a:p>
        </p:txBody>
      </p:sp>
      <p:sp>
        <p:nvSpPr>
          <p:cNvPr id="12" name="Rounded Rectangle 11">
            <a:hlinkClick r:id="rId6" action="ppaction://hlinksldjump"/>
          </p:cNvPr>
          <p:cNvSpPr/>
          <p:nvPr/>
        </p:nvSpPr>
        <p:spPr>
          <a:xfrm>
            <a:off x="731520" y="3639312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7490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72160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How it works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Answer · Reply · Hand off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731520" y="4352544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46227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43484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Get started in 3 steps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Connect, teach, go live</a:t>
            </a:r>
          </a:p>
        </p:txBody>
      </p:sp>
      <p:sp>
        <p:nvSpPr>
          <p:cNvPr id="18" name="Rounded Rectangle 17">
            <a:hlinkClick r:id="rId8" action="ppaction://hlinksldjump"/>
          </p:cNvPr>
          <p:cNvSpPr/>
          <p:nvPr/>
        </p:nvSpPr>
        <p:spPr>
          <a:xfrm>
            <a:off x="731520" y="5065776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1755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14807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Feature set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Everything in one inbox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731520" y="5779008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88873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86130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Insights &amp; analytics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Know your customers at a glance</a:t>
            </a:r>
          </a:p>
        </p:txBody>
      </p:sp>
      <p:sp>
        <p:nvSpPr>
          <p:cNvPr id="24" name="Rounded Rectangle 23">
            <a:hlinkClick r:id="rId10" action="ppaction://hlinksldjump"/>
          </p:cNvPr>
          <p:cNvSpPr/>
          <p:nvPr/>
        </p:nvSpPr>
        <p:spPr>
          <a:xfrm>
            <a:off x="6355080" y="2212848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32257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29514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Why LUMA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Built for merchants, not generic bots</a:t>
            </a:r>
          </a:p>
        </p:txBody>
      </p:sp>
      <p:sp>
        <p:nvSpPr>
          <p:cNvPr id="27" name="Rounded Rectangle 26">
            <a:hlinkClick r:id="rId11" action="ppaction://hlinksldjump"/>
          </p:cNvPr>
          <p:cNvSpPr/>
          <p:nvPr/>
        </p:nvSpPr>
        <p:spPr>
          <a:xfrm>
            <a:off x="6355080" y="2926080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30358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008376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Proven performance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Speed, languages, uptime</a:t>
            </a:r>
          </a:p>
        </p:txBody>
      </p:sp>
      <p:sp>
        <p:nvSpPr>
          <p:cNvPr id="30" name="Rounded Rectangle 29">
            <a:hlinkClick r:id="rId12" action="ppaction://hlinksldjump"/>
          </p:cNvPr>
          <p:cNvSpPr/>
          <p:nvPr/>
        </p:nvSpPr>
        <p:spPr>
          <a:xfrm>
            <a:off x="6355080" y="3639312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7490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72160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Pricing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Plans that scale with you</a:t>
            </a:r>
          </a:p>
        </p:txBody>
      </p:sp>
      <p:sp>
        <p:nvSpPr>
          <p:cNvPr id="33" name="Rounded Rectangle 32">
            <a:hlinkClick r:id="rId13" action="ppaction://hlinksldjump"/>
          </p:cNvPr>
          <p:cNvSpPr/>
          <p:nvPr/>
        </p:nvSpPr>
        <p:spPr>
          <a:xfrm>
            <a:off x="6355080" y="4352544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446227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43484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Security &amp; trust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Your data, protected</a:t>
            </a:r>
          </a:p>
        </p:txBody>
      </p:sp>
      <p:sp>
        <p:nvSpPr>
          <p:cNvPr id="36" name="Rounded Rectangle 35">
            <a:hlinkClick r:id="rId14" action="ppaction://hlinksldjump"/>
          </p:cNvPr>
          <p:cNvSpPr/>
          <p:nvPr/>
        </p:nvSpPr>
        <p:spPr>
          <a:xfrm>
            <a:off x="6355080" y="5065776"/>
            <a:ext cx="5074920" cy="603504"/>
          </a:xfrm>
          <a:prstGeom prst="roundRect">
            <a:avLst>
              <a:gd name="adj" fmla="val 18000"/>
            </a:avLst>
          </a:prstGeom>
          <a:solidFill>
            <a:srgbClr val="080330">
              <a:alpha val="4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517550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7AA8FF"/>
                </a:solidFill>
                <a:latin typeface="JetBrains Mono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14807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 i="0">
                <a:solidFill>
                  <a:srgbClr val="FFFFFF"/>
                </a:solidFill>
                <a:latin typeface="Sora"/>
              </a:rPr>
              <a:t>Next steps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Start your free trial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AA8FF"/>
                </a:solidFill>
                <a:latin typeface="JetBrains Mono"/>
              </a:rPr>
              <a:t>Tip: every card and button in this deck is clickable.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02 / 14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Sora"/>
              </a:rPr>
              <a:t>Every silent DM is a </a:t>
            </a:r>
            <a:r>
              <a:rPr sz="4200" b="1" i="0">
                <a:solidFill>
                  <a:srgbClr val="7AA8FF"/>
                </a:solidFill>
                <a:latin typeface="Sora"/>
              </a:rPr>
              <a:t>sale walking out the door</a:t>
            </a:r>
            <a:r>
              <a:rPr sz="4200" b="1" i="0">
                <a:solidFill>
                  <a:srgbClr val="FFFFFF"/>
                </a:solidFill>
                <a:latin typeface="Sora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5349240" cy="1627632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9525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898648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JetBrai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953512"/>
            <a:ext cx="3886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Replies come too late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Customers message at midnight and on weekends. By the time you reply, they’ve bought elsewhere.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697480"/>
            <a:ext cx="5349240" cy="1627632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9525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898648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JetBrain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953512"/>
            <a:ext cx="3886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The same questions, endlessly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“Is this in stock?” “Where’s my order?” “Do you ship to me?” — answered by hand, all day long.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99432"/>
            <a:ext cx="5349240" cy="1627632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9525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8006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JetBrains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855464"/>
            <a:ext cx="3886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Customers write in three languages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Arabic, English and Franco-Arabic in the same inbox. Your team juggles tone and translation.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599432"/>
            <a:ext cx="5349240" cy="1627632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9525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4800600"/>
            <a:ext cx="1005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JetBrains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855464"/>
            <a:ext cx="3886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No view of what’s working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No idea how many messages turn into sales, what gets asked most, or when your busiest hours are.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03 / 14</a:t>
            </a:r>
          </a:p>
        </p:txBody>
      </p:sp>
    </p:spTree>
  </p:cSld>
  <p:clrMapOvr>
    <a:masterClrMapping/>
  </p:clrMapOvr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02 · MEET LUMA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766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ora"/>
              </a:rPr>
              <a:t>An AI teammate that </a:t>
            </a:r>
            <a:r>
              <a:rPr sz="4000" b="1" i="0">
                <a:solidFill>
                  <a:srgbClr val="7AA8FF"/>
                </a:solidFill>
                <a:latin typeface="Sora"/>
              </a:rPr>
              <a:t>never sleeps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00" b="0" i="0">
                <a:solidFill>
                  <a:srgbClr val="FFFFFF"/>
                </a:solidFill>
                <a:latin typeface="Open Sans"/>
              </a:rPr>
              <a:t/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50" b="0" i="0">
                <a:solidFill>
                  <a:srgbClr val="B3C2E0"/>
                </a:solidFill>
                <a:latin typeface="Open Sans"/>
              </a:rPr>
              <a:t>LUMA reads every Instagram message and website chat, answers in the customer’s own language using your live product and order information, and passes the conversation to your team whenever a personal touch is needed.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3666744"/>
            <a:ext cx="146304" cy="146304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1188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Open Sans"/>
              </a:rPr>
              <a:t>Replies instantly, day and night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4233672"/>
            <a:ext cx="146304" cy="146304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7880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Open Sans"/>
              </a:rPr>
              <a:t>Speaks Egyptian Arabic, English and Franco-Arabic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800600"/>
            <a:ext cx="146304" cy="146304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45736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Open Sans"/>
              </a:rPr>
              <a:t>Answers order and product questions accurately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5367528"/>
            <a:ext cx="146304" cy="146304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1266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Open Sans"/>
              </a:rPr>
              <a:t>Works inside your store — no new app to learn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143000"/>
            <a:ext cx="3749039" cy="4663440"/>
          </a:xfrm>
          <a:prstGeom prst="roundRect">
            <a:avLst>
              <a:gd name="adj" fmla="val 6000"/>
            </a:avLst>
          </a:prstGeom>
          <a:solidFill>
            <a:srgbClr val="080330">
              <a:alpha val="82000"/>
            </a:srgbClr>
          </a:solidFill>
          <a:ln w="12700">
            <a:solidFill>
              <a:srgbClr val="4466FF">
                <a:alpha val="45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143000"/>
            <a:ext cx="3749039" cy="713232"/>
          </a:xfrm>
          <a:prstGeom prst="roundRect">
            <a:avLst>
              <a:gd name="adj" fmla="val 6000"/>
            </a:avLst>
          </a:prstGeom>
          <a:solidFill>
            <a:srgbClr val="446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307592"/>
            <a:ext cx="545523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95360" y="1280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ora"/>
              </a:rPr>
              <a:t>LUMA</a:t>
            </a:r>
          </a:p>
        </p:txBody>
      </p:sp>
      <p:sp>
        <p:nvSpPr>
          <p:cNvPr id="17" name="Oval 16"/>
          <p:cNvSpPr/>
          <p:nvPr/>
        </p:nvSpPr>
        <p:spPr>
          <a:xfrm>
            <a:off x="8604504" y="1636776"/>
            <a:ext cx="77724" cy="7772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0808" y="15636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  <a:latin typeface="JetBrains Mono"/>
              </a:rPr>
              <a:t>Online now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057400"/>
            <a:ext cx="2743200" cy="841248"/>
          </a:xfrm>
          <a:prstGeom prst="roundRect">
            <a:avLst>
              <a:gd name="adj" fmla="val 22000"/>
            </a:avLst>
          </a:prstGeom>
          <a:solidFill>
            <a:srgbClr val="02010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هل في الجاكيت الأسود مقاس M؟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2990088"/>
            <a:ext cx="2743200" cy="841248"/>
          </a:xfrm>
          <a:prstGeom prst="roundRect">
            <a:avLst>
              <a:gd name="adj" fmla="val 22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Yes! The black jacket is in stock in size M — EGP 1,250. Would you like me to reserve one?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3922776"/>
            <a:ext cx="2743200" cy="841248"/>
          </a:xfrm>
          <a:prstGeom prst="roundRect">
            <a:avLst>
              <a:gd name="adj" fmla="val 22000"/>
            </a:avLst>
          </a:prstGeom>
          <a:solidFill>
            <a:srgbClr val="020108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Where’s my order #4521?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59" y="4855464"/>
            <a:ext cx="2743200" cy="841248"/>
          </a:xfrm>
          <a:prstGeom prst="roundRect">
            <a:avLst>
              <a:gd name="adj" fmla="val 22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050" b="0" i="0">
                <a:solidFill>
                  <a:srgbClr val="FFFFFF"/>
                </a:solidFill>
                <a:latin typeface="Open Sans"/>
              </a:rPr>
              <a:t>It’s out for delivery today and should arrive by 6 PM.</a:t>
            </a:r>
          </a:p>
        </p:txBody>
      </p:sp>
      <p:sp>
        <p:nvSpPr>
          <p:cNvPr id="23" name="Rounded Rectangle 22">
            <a:hlinkClick r:id="rId4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04 / 14</a:t>
            </a:r>
          </a:p>
        </p:txBody>
      </p:sp>
    </p:spTree>
  </p:cSld>
  <p:clrMapOvr>
    <a:masterClrMapping/>
  </p:clrMapOvr>
  <p:transition spd="med">
    <p:cover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03 ·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ora"/>
              </a:rPr>
              <a:t>Three ways LUMA handles every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B3C2E0"/>
                </a:solidFill>
                <a:latin typeface="Open Sans"/>
              </a:rPr>
              <a:t>Every message is handled the right way — keeping replies instant and your customers looked after.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611880" cy="3703320"/>
          </a:xfrm>
          <a:prstGeom prst="roundRect">
            <a:avLst>
              <a:gd name="adj" fmla="val 7000"/>
            </a:avLst>
          </a:prstGeom>
          <a:solidFill>
            <a:srgbClr val="080330">
              <a:alpha val="55000"/>
            </a:srgbClr>
          </a:solidFill>
          <a:ln w="11430">
            <a:solidFill>
              <a:srgbClr val="4466FF">
                <a:alpha val="5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560320"/>
            <a:ext cx="777240" cy="777240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Sor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ora"/>
              </a:rPr>
              <a:t>Instant answer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Greetings, thank-yous and repeat questions are recognised and answered straight away.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983480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“Hi there”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321808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“شكراً”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660136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“Where’s order #4521?”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2286000"/>
            <a:ext cx="3611880" cy="3703320"/>
          </a:xfrm>
          <a:prstGeom prst="roundRect">
            <a:avLst>
              <a:gd name="adj" fmla="val 7000"/>
            </a:avLst>
          </a:prstGeom>
          <a:solidFill>
            <a:srgbClr val="080330">
              <a:alpha val="55000"/>
            </a:srgbClr>
          </a:solidFill>
          <a:ln w="11430">
            <a:solidFill>
              <a:srgbClr val="4466FF">
                <a:alpha val="5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4608" y="2560320"/>
            <a:ext cx="777240" cy="777240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Sor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56616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ora"/>
              </a:rPr>
              <a:t>Smart reply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Real product questions are answered from your live catalogue, in the customer’s own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4608" y="4983480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“Is the black jacket in M?”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4608" y="5321808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“Do you ship to Alexandria?”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5660136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“What’s the return policy?”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49056" y="2286000"/>
            <a:ext cx="3611880" cy="3703320"/>
          </a:xfrm>
          <a:prstGeom prst="roundRect">
            <a:avLst>
              <a:gd name="adj" fmla="val 7000"/>
            </a:avLst>
          </a:prstGeom>
          <a:solidFill>
            <a:srgbClr val="080330">
              <a:alpha val="55000"/>
            </a:srgbClr>
          </a:solidFill>
          <a:ln w="11430">
            <a:solidFill>
              <a:srgbClr val="4466FF">
                <a:alpha val="5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23376" y="2560320"/>
            <a:ext cx="777240" cy="777240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3000" b="1" i="0">
                <a:solidFill>
                  <a:srgbClr val="FFFFFF"/>
                </a:solidFill>
                <a:latin typeface="Sor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356616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Sora"/>
              </a:rPr>
              <a:t>Personal handoff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B3C2E0"/>
                </a:solidFill>
                <a:latin typeface="Open Sans"/>
              </a:rPr>
              <a:t>Complaints or anything unusual? LUMA reassures the customer and passes it straight to your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4983480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“I’d like to speak to someone”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23376" y="5321808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“This ripped after one wear”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3376" y="5660136"/>
            <a:ext cx="3063240" cy="292608"/>
          </a:xfrm>
          <a:prstGeom prst="roundRect">
            <a:avLst>
              <a:gd name="adj" fmla="val 50000"/>
            </a:avLst>
          </a:prstGeom>
          <a:solidFill>
            <a:srgbClr val="020108">
              <a:alpha val="60000"/>
            </a:srgbClr>
          </a:solidFill>
          <a:ln w="6350">
            <a:solidFill>
              <a:srgbClr val="4466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950" b="0" i="0">
                <a:solidFill>
                  <a:srgbClr val="B3CCFF"/>
                </a:solidFill>
                <a:latin typeface="JetBrains Mono"/>
              </a:rPr>
              <a:t>“I’m not happy”</a:t>
            </a:r>
          </a:p>
        </p:txBody>
      </p:sp>
      <p:sp>
        <p:nvSpPr>
          <p:cNvPr id="24" name="Rounded Rectangle 23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05 / 14</a:t>
            </a:r>
          </a:p>
        </p:txBody>
      </p:sp>
    </p:spTree>
  </p:cSld>
  <p:clrMapOvr>
    <a:masterClrMapping/>
  </p:clrMapOvr>
  <p:transition spd="med">
    <p:split orient="vert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4466FF"/>
                </a:solidFill>
                <a:latin typeface="JetBrains Mono"/>
              </a:rPr>
              <a:t>04 ·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A0A2E"/>
                </a:solidFill>
                <a:latin typeface="Sora"/>
              </a:rPr>
              <a:t>Live in an afternoon — </a:t>
            </a:r>
            <a:r>
              <a:rPr sz="3800" b="1" i="0">
                <a:solidFill>
                  <a:srgbClr val="4466FF"/>
                </a:solidFill>
                <a:latin typeface="Sora"/>
              </a:rPr>
              <a:t>no setup headaches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466FF">
                <a:alpha val="2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3108960"/>
            <a:ext cx="914400" cy="914400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3400" b="1" i="0">
                <a:solidFill>
                  <a:srgbClr val="FFFFFF"/>
                </a:solidFill>
                <a:latin typeface="Sor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2519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0A0A2E"/>
                </a:solidFill>
                <a:latin typeface="Sora"/>
              </a:rPr>
              <a:t>Connect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56080"/>
                </a:solidFill>
                <a:latin typeface="Open Sans"/>
              </a:rPr>
              <a:t>Link your store and Instagram account in a few clicks. Your products load in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7947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7AA8FF"/>
                </a:solidFill>
                <a:latin typeface="Sora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74320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466FF">
                <a:alpha val="2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60" y="3108960"/>
            <a:ext cx="914400" cy="914400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3400" b="1" i="0">
                <a:solidFill>
                  <a:srgbClr val="FFFFFF"/>
                </a:solidFill>
                <a:latin typeface="Sor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2519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0A0A2E"/>
                </a:solidFill>
                <a:latin typeface="Sora"/>
              </a:rPr>
              <a:t>Personalise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56080"/>
                </a:solidFill>
                <a:latin typeface="Open Sans"/>
              </a:rPr>
              <a:t>Set the tone, your opening hours and a few product details so LUMA sounds just like your brand.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7AA8FF"/>
                </a:solidFill>
                <a:latin typeface="Sor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2743200"/>
            <a:ext cx="352044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466FF">
                <a:alpha val="2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23960" y="3108960"/>
            <a:ext cx="914400" cy="914400"/>
          </a:xfrm>
          <a:prstGeom prst="ellipse">
            <a:avLst/>
          </a:prstGeom>
          <a:solidFill>
            <a:srgbClr val="4466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3400" b="1" i="0">
                <a:solidFill>
                  <a:srgbClr val="FFFFFF"/>
                </a:solidFill>
                <a:latin typeface="Sor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251960"/>
            <a:ext cx="2880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 i="0">
                <a:solidFill>
                  <a:srgbClr val="0A0A2E"/>
                </a:solidFill>
                <a:latin typeface="Sora"/>
              </a:rPr>
              <a:t>Go live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556080"/>
                </a:solidFill>
                <a:latin typeface="Open Sans"/>
              </a:rPr>
              <a:t>Watch conversations as they happen and step into any chat yourself whenever you’d like.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80"/>
                </a:solidFill>
                <a:latin typeface="JetBrains Mono"/>
              </a:rPr>
              <a:t>06 / 14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05 · FEATURE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Sora"/>
              </a:rPr>
              <a:t>Everything your inbox needs, in one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7568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38658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One inbox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Instagram and website chats together in one 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4568" y="17830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18888" y="207568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8658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Three languages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Speaks Arabic, English and Franco-Arabic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57616" y="178308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31936" y="207568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238658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Order tracking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Tells customers exactly where their order 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76732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7822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Instant answers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Common questions answered in a moment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44568" y="347472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18888" y="376732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07822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Smart handoff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Knows when to bring in your team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347472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31936" y="376732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407822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Simple dashboard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See your busiest hours and top questions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545896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76986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Product knowledge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Shares accurate details about your products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4568" y="51663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18888" y="545896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576986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After-hours replies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Keeps answering when you’re closed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6" y="516636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080330">
              <a:alpha val="50000"/>
            </a:srgbClr>
          </a:solidFill>
          <a:ln w="7620">
            <a:solidFill>
              <a:srgbClr val="4466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31936" y="5458968"/>
            <a:ext cx="146304" cy="146304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5769864"/>
            <a:ext cx="300837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Sora"/>
              </a:rPr>
              <a:t>Customer feedback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B3C2E0"/>
                </a:solidFill>
                <a:latin typeface="Open Sans"/>
              </a:rPr>
              <a:t>Asks each customer if the answer helped</a:t>
            </a:r>
          </a:p>
        </p:txBody>
      </p:sp>
      <p:sp>
        <p:nvSpPr>
          <p:cNvPr id="32" name="Rounded Rectangle 31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07 / 14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06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ora"/>
              </a:rPr>
              <a:t>Your store’s conversations, made clear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17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B3C2E0"/>
                </a:solidFill>
                <a:latin typeface="Open Sans"/>
              </a:rPr>
              <a:t>A simple dashboard, built right into your store — no spreadsheets, no guesswork.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725912" cy="4069080"/>
          </a:xfrm>
          <a:prstGeom prst="roundRect">
            <a:avLst>
              <a:gd name="adj" fmla="val 4000"/>
            </a:avLst>
          </a:prstGeom>
          <a:solidFill>
            <a:srgbClr val="080330">
              <a:alpha val="75000"/>
            </a:srgbClr>
          </a:solidFill>
          <a:ln w="12700">
            <a:solidFill>
              <a:srgbClr val="4466FF">
                <a:alpha val="5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331720"/>
            <a:ext cx="2432304" cy="1051560"/>
          </a:xfrm>
          <a:prstGeom prst="roundRect">
            <a:avLst>
              <a:gd name="adj" fmla="val 12000"/>
            </a:avLst>
          </a:prstGeom>
          <a:solidFill>
            <a:srgbClr val="020108">
              <a:alpha val="65000"/>
            </a:srgbClr>
          </a:solidFill>
          <a:ln w="7620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78024"/>
            <a:ext cx="206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Sora"/>
              </a:rPr>
              <a:t>1,240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08376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3C2E0"/>
                </a:solidFill>
                <a:latin typeface="Open Sans"/>
              </a:rPr>
              <a:t>Conversations this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016" y="2331720"/>
            <a:ext cx="2432304" cy="1051560"/>
          </a:xfrm>
          <a:prstGeom prst="roundRect">
            <a:avLst>
              <a:gd name="adj" fmla="val 12000"/>
            </a:avLst>
          </a:prstGeom>
          <a:solidFill>
            <a:srgbClr val="020108">
              <a:alpha val="65000"/>
            </a:srgbClr>
          </a:solidFill>
          <a:ln w="7620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2478024"/>
            <a:ext cx="206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Sora"/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3008376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3C2E0"/>
                </a:solidFill>
                <a:latin typeface="Open Sans"/>
              </a:rPr>
              <a:t>Answered instantly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331720"/>
            <a:ext cx="2432304" cy="1051560"/>
          </a:xfrm>
          <a:prstGeom prst="roundRect">
            <a:avLst>
              <a:gd name="adj" fmla="val 12000"/>
            </a:avLst>
          </a:prstGeom>
          <a:solidFill>
            <a:srgbClr val="020108">
              <a:alpha val="65000"/>
            </a:srgbClr>
          </a:solidFill>
          <a:ln w="7620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478024"/>
            <a:ext cx="206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Sora"/>
              </a:rPr>
              <a:t>310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008376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3C2E0"/>
                </a:solidFill>
                <a:latin typeface="Open Sans"/>
              </a:rPr>
              <a:t>After-hours chats handled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0808" y="2331720"/>
            <a:ext cx="2432304" cy="1051560"/>
          </a:xfrm>
          <a:prstGeom prst="roundRect">
            <a:avLst>
              <a:gd name="adj" fmla="val 12000"/>
            </a:avLst>
          </a:prstGeom>
          <a:solidFill>
            <a:srgbClr val="020108">
              <a:alpha val="65000"/>
            </a:srgbClr>
          </a:solidFill>
          <a:ln w="7620">
            <a:solidFill>
              <a:srgbClr val="4466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2478024"/>
            <a:ext cx="206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A8FF"/>
                </a:solidFill>
                <a:latin typeface="Sora"/>
              </a:rPr>
              <a:t>4.7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008376"/>
            <a:ext cx="20665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3C2E0"/>
                </a:solidFill>
                <a:latin typeface="Open Sans"/>
              </a:rPr>
              <a:t>Average customer 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7033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ora"/>
              </a:rPr>
              <a:t>Conversations per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940046"/>
            <a:ext cx="457200" cy="729234"/>
          </a:xfrm>
          <a:prstGeom prst="roundRect">
            <a:avLst>
              <a:gd name="adj" fmla="val 20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Mon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65376" y="4741165"/>
            <a:ext cx="457200" cy="928115"/>
          </a:xfrm>
          <a:prstGeom prst="roundRect">
            <a:avLst>
              <a:gd name="adj" fmla="val 20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Tue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33472" y="4847235"/>
            <a:ext cx="457200" cy="822045"/>
          </a:xfrm>
          <a:prstGeom prst="roundRect">
            <a:avLst>
              <a:gd name="adj" fmla="val 20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2032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Wed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4542282"/>
            <a:ext cx="457200" cy="1126998"/>
          </a:xfrm>
          <a:prstGeom prst="roundRect">
            <a:avLst>
              <a:gd name="adj" fmla="val 20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0128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Thu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9664" y="4343400"/>
            <a:ext cx="457200" cy="1325880"/>
          </a:xfrm>
          <a:prstGeom prst="roundRect">
            <a:avLst>
              <a:gd name="adj" fmla="val 20000"/>
            </a:avLst>
          </a:prstGeom>
          <a:solidFill>
            <a:srgbClr val="7AA8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78224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Fri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4449471"/>
            <a:ext cx="457200" cy="1219809"/>
          </a:xfrm>
          <a:prstGeom prst="roundRect">
            <a:avLst>
              <a:gd name="adj" fmla="val 20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Sat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05856" y="4767682"/>
            <a:ext cx="457200" cy="901598"/>
          </a:xfrm>
          <a:prstGeom prst="roundRect">
            <a:avLst>
              <a:gd name="adj" fmla="val 20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14416" y="570585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3C2E0"/>
                </a:solidFill>
                <a:latin typeface="JetBrains Mono"/>
              </a:rPr>
              <a:t>Sun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37033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ora"/>
              </a:rPr>
              <a:t>How messages were handled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2245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Answered instantly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42245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4466FF"/>
                </a:solidFill>
                <a:latin typeface="JetBrains Mono"/>
              </a:rPr>
              <a:t>82%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4535424"/>
            <a:ext cx="3657600" cy="182880"/>
          </a:xfrm>
          <a:prstGeom prst="roundRect">
            <a:avLst>
              <a:gd name="adj" fmla="val 50000"/>
            </a:avLst>
          </a:prstGeom>
          <a:solidFill>
            <a:srgbClr val="02010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86600" y="4535424"/>
            <a:ext cx="2999232" cy="182880"/>
          </a:xfrm>
          <a:prstGeom prst="roundRect">
            <a:avLst>
              <a:gd name="adj" fmla="val 50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50657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Passed to your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50657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7AA8FF"/>
                </a:solidFill>
                <a:latin typeface="JetBrains Mono"/>
              </a:rPr>
              <a:t>18%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5376672"/>
            <a:ext cx="3657600" cy="182880"/>
          </a:xfrm>
          <a:prstGeom prst="roundRect">
            <a:avLst>
              <a:gd name="adj" fmla="val 50000"/>
            </a:avLst>
          </a:prstGeom>
          <a:solidFill>
            <a:srgbClr val="02010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086600" y="5376672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56509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3C2E0"/>
                </a:solidFill>
                <a:latin typeface="Open Sans"/>
              </a:rPr>
              <a:t>Most asked:  </a:t>
            </a:r>
            <a:r>
              <a:rPr sz="1100" b="1" i="0">
                <a:solidFill>
                  <a:srgbClr val="7AA8FF"/>
                </a:solidFill>
                <a:latin typeface="Open Sans"/>
              </a:rPr>
              <a:t>“Where’s my order?”</a:t>
            </a:r>
          </a:p>
        </p:txBody>
      </p:sp>
      <p:sp>
        <p:nvSpPr>
          <p:cNvPr id="44" name="Rounded Rectangle 43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08 / 14</a:t>
            </a:r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4466FF"/>
                </a:solidFill>
                <a:latin typeface="JetBrains Mono"/>
              </a:rPr>
              <a:t>06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A0A2E"/>
                </a:solidFill>
                <a:latin typeface="Sora"/>
              </a:rPr>
              <a:t>Turn insight into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56080"/>
                </a:solidFill>
                <a:latin typeface="Open Sans"/>
              </a:rPr>
              <a:t>Spot patterns, staff smarter, and see exactly what turns chats into 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466FF">
                <a:alpha val="2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62856" y="228600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466FF">
                <a:alpha val="2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94192" y="228600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466FF">
                <a:alpha val="20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5420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2E"/>
                </a:solidFill>
                <a:latin typeface="Sora"/>
              </a:rPr>
              <a:t>Your busiest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" y="32004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17904" y="32004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93392" y="32004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8880" y="32004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44368" y="32004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19856" y="320040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2416" y="36758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17904" y="36758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93392" y="36758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68880" y="36758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44368" y="36758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19856" y="367588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" y="4151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17904" y="4151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93392" y="4151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68880" y="4151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44368" y="4151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19856" y="4151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2416" y="462686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517904" y="462686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993392" y="462686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80" y="462686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944368" y="462686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19856" y="462686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4466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53492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556080"/>
                </a:solidFill>
                <a:latin typeface="Open Sans"/>
              </a:rPr>
              <a:t>Evenings are your peak — staff up when it matters most.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5464" y="25420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2E"/>
                </a:solidFill>
                <a:latin typeface="Sora"/>
              </a:rPr>
              <a:t>Top questions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32461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2E"/>
                </a:solidFill>
                <a:latin typeface="Open Sans"/>
              </a:rPr>
              <a:t>Where’s my order?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324612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466FF"/>
                </a:solidFill>
                <a:latin typeface="JetBrains Mono"/>
              </a:rPr>
              <a:t>34%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3752" y="3520440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4466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873752" y="3520440"/>
            <a:ext cx="948232" cy="128016"/>
          </a:xfrm>
          <a:prstGeom prst="roundRect">
            <a:avLst>
              <a:gd name="adj" fmla="val 50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39044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2E"/>
                </a:solidFill>
                <a:latin typeface="Open Sans"/>
              </a:rPr>
              <a:t>Is this in stock?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390448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466FF"/>
                </a:solidFill>
                <a:latin typeface="JetBrains Mono"/>
              </a:rPr>
              <a:t>26%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73752" y="4178808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4466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73752" y="4178808"/>
            <a:ext cx="725119" cy="128016"/>
          </a:xfrm>
          <a:prstGeom prst="roundRect">
            <a:avLst>
              <a:gd name="adj" fmla="val 50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73752" y="45628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2E"/>
                </a:solidFill>
                <a:latin typeface="Open Sans"/>
              </a:rPr>
              <a:t>Shipping &amp; delivery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31736" y="456285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466FF"/>
                </a:solidFill>
                <a:latin typeface="JetBrains Mono"/>
              </a:rPr>
              <a:t>21%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73752" y="4837176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4466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873752" y="4837176"/>
            <a:ext cx="585673" cy="128016"/>
          </a:xfrm>
          <a:prstGeom prst="roundRect">
            <a:avLst>
              <a:gd name="adj" fmla="val 50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3752" y="52212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A0A2E"/>
                </a:solidFill>
                <a:latin typeface="Open Sans"/>
              </a:rPr>
              <a:t>Returns &amp; exchanges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6" y="5221224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466FF"/>
                </a:solidFill>
                <a:latin typeface="JetBrains Mono"/>
              </a:rPr>
              <a:t>12%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73752" y="5495544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4466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73752" y="5495544"/>
            <a:ext cx="334670" cy="128016"/>
          </a:xfrm>
          <a:prstGeom prst="roundRect">
            <a:avLst>
              <a:gd name="adj" fmla="val 50000"/>
            </a:avLst>
          </a:prstGeom>
          <a:solidFill>
            <a:srgbClr val="44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254203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2E"/>
                </a:solidFill>
                <a:latin typeface="Sora"/>
              </a:rPr>
              <a:t>Chats that became sales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8512" y="315468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4466FF"/>
                </a:solidFill>
                <a:latin typeface="Sora"/>
              </a:rPr>
              <a:t>19%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411480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080"/>
                </a:solidFill>
                <a:latin typeface="Open Sans"/>
              </a:rPr>
              <a:t>of conversations led to a purchase.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9952" y="5074920"/>
            <a:ext cx="502920" cy="411480"/>
          </a:xfrm>
          <a:prstGeom prst="roundRect">
            <a:avLst>
              <a:gd name="adj" fmla="val 20000"/>
            </a:avLst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5522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56080"/>
                </a:solidFill>
                <a:latin typeface="JetBrains Mono"/>
              </a:rPr>
              <a:t>Wk1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73184" y="4892040"/>
            <a:ext cx="502920" cy="594360"/>
          </a:xfrm>
          <a:prstGeom prst="roundRect">
            <a:avLst>
              <a:gd name="adj" fmla="val 20000"/>
            </a:avLst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0032" y="5522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56080"/>
                </a:solidFill>
                <a:latin typeface="JetBrains Mono"/>
              </a:rPr>
              <a:t>Wk2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86416" y="4709160"/>
            <a:ext cx="502920" cy="777240"/>
          </a:xfrm>
          <a:prstGeom prst="roundRect">
            <a:avLst>
              <a:gd name="adj" fmla="val 20000"/>
            </a:avLst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13264" y="5522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56080"/>
                </a:solidFill>
                <a:latin typeface="JetBrains Mono"/>
              </a:rPr>
              <a:t>Wk3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899648" y="4572000"/>
            <a:ext cx="502920" cy="914400"/>
          </a:xfrm>
          <a:prstGeom prst="roundRect">
            <a:avLst>
              <a:gd name="adj" fmla="val 20000"/>
            </a:avLst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26496" y="55229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556080"/>
                </a:solidFill>
                <a:latin typeface="JetBrains Mono"/>
              </a:rPr>
              <a:t>Wk4</a:t>
            </a:r>
          </a:p>
        </p:txBody>
      </p:sp>
      <p:sp>
        <p:nvSpPr>
          <p:cNvPr id="63" name="Rounded Rectangle 62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80"/>
                </a:solidFill>
                <a:latin typeface="JetBrains Mono"/>
              </a:rPr>
              <a:t>09 / 14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07 · WHY LUMA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Sora"/>
              </a:rPr>
              <a:t>Not a generic chatbot. </a:t>
            </a:r>
            <a:r>
              <a:rPr sz="3800" b="1" i="0">
                <a:solidFill>
                  <a:srgbClr val="7AA8FF"/>
                </a:solidFill>
                <a:latin typeface="Sora"/>
              </a:rPr>
              <a:t>A real teammate.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B3C2E0"/>
                </a:solidFill>
                <a:latin typeface="Open Sans"/>
              </a:rPr>
              <a:t>Built from the ground up for merchants who know that fast answers drive sales.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5349240" cy="548640"/>
          </a:xfrm>
          <a:prstGeom prst="roundRect">
            <a:avLst>
              <a:gd name="adj" fmla="val 18000"/>
            </a:avLst>
          </a:prstGeom>
          <a:solidFill>
            <a:srgbClr val="02010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300" b="1" i="0" spc="200">
                <a:solidFill>
                  <a:srgbClr val="B3C2E0"/>
                </a:solidFill>
                <a:latin typeface="JetBrains Mono"/>
              </a:rPr>
              <a:t>GENERIC CHATBOT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2697480"/>
            <a:ext cx="5074920" cy="548640"/>
          </a:xfrm>
          <a:prstGeom prst="roundRect">
            <a:avLst>
              <a:gd name="adj" fmla="val 18000"/>
            </a:avLst>
          </a:prstGeom>
          <a:solidFill>
            <a:srgbClr val="4466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300" b="1" i="0" spc="200">
                <a:solidFill>
                  <a:srgbClr val="FFFFFF"/>
                </a:solidFill>
                <a:latin typeface="JetBrains Mono"/>
              </a:rPr>
              <a:t>LUMA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10712"/>
            <a:ext cx="534924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45000"/>
            </a:srgbClr>
          </a:solidFill>
          <a:ln w="5080">
            <a:solidFill>
              <a:srgbClr val="B3C2E0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FF7A7A"/>
                </a:solidFill>
                <a:latin typeface="Open Sans"/>
              </a:rPr>
              <a:t>✕  </a:t>
            </a:r>
            <a:r>
              <a:rPr sz="1250" b="0" i="0">
                <a:solidFill>
                  <a:srgbClr val="B3C2E0"/>
                </a:solidFill>
                <a:latin typeface="Open Sans"/>
              </a:rPr>
              <a:t>Translates word-for-word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3410712"/>
            <a:ext cx="507492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70000"/>
            </a:srgbClr>
          </a:solidFill>
          <a:ln w="10160">
            <a:solidFill>
              <a:srgbClr val="4466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22C55E"/>
                </a:solidFill>
                <a:latin typeface="Open Sans"/>
              </a:rPr>
              <a:t>✓  </a:t>
            </a:r>
            <a:r>
              <a:rPr sz="1250" b="1" i="0">
                <a:solidFill>
                  <a:srgbClr val="FFFFFF"/>
                </a:solidFill>
                <a:latin typeface="Open Sans"/>
              </a:rPr>
              <a:t>Speaks Arabic and Franco-Arabic naturally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50792"/>
            <a:ext cx="534924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45000"/>
            </a:srgbClr>
          </a:solidFill>
          <a:ln w="5080">
            <a:solidFill>
              <a:srgbClr val="B3C2E0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FF7A7A"/>
                </a:solidFill>
                <a:latin typeface="Open Sans"/>
              </a:rPr>
              <a:t>✕  </a:t>
            </a:r>
            <a:r>
              <a:rPr sz="1250" b="0" i="0">
                <a:solidFill>
                  <a:srgbClr val="B3C2E0"/>
                </a:solidFill>
                <a:latin typeface="Open Sans"/>
              </a:rPr>
              <a:t>Guesses order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050792"/>
            <a:ext cx="507492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70000"/>
            </a:srgbClr>
          </a:solidFill>
          <a:ln w="10160">
            <a:solidFill>
              <a:srgbClr val="4466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22C55E"/>
                </a:solidFill>
                <a:latin typeface="Open Sans"/>
              </a:rPr>
              <a:t>✓  </a:t>
            </a:r>
            <a:r>
              <a:rPr sz="1250" b="1" i="0">
                <a:solidFill>
                  <a:srgbClr val="FFFFFF"/>
                </a:solidFill>
                <a:latin typeface="Open Sans"/>
              </a:rPr>
              <a:t>Gives accurate, up-to-date order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90872"/>
            <a:ext cx="534924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45000"/>
            </a:srgbClr>
          </a:solidFill>
          <a:ln w="5080">
            <a:solidFill>
              <a:srgbClr val="B3C2E0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FF7A7A"/>
                </a:solidFill>
                <a:latin typeface="Open Sans"/>
              </a:rPr>
              <a:t>✕  </a:t>
            </a:r>
            <a:r>
              <a:rPr sz="1250" b="0" i="0">
                <a:solidFill>
                  <a:srgbClr val="B3C2E0"/>
                </a:solidFill>
                <a:latin typeface="Open Sans"/>
              </a:rPr>
              <a:t>Yet another app to open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690872"/>
            <a:ext cx="507492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70000"/>
            </a:srgbClr>
          </a:solidFill>
          <a:ln w="10160">
            <a:solidFill>
              <a:srgbClr val="4466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22C55E"/>
                </a:solidFill>
                <a:latin typeface="Open Sans"/>
              </a:rPr>
              <a:t>✓  </a:t>
            </a:r>
            <a:r>
              <a:rPr sz="1250" b="1" i="0">
                <a:solidFill>
                  <a:srgbClr val="FFFFFF"/>
                </a:solidFill>
                <a:latin typeface="Open Sans"/>
              </a:rPr>
              <a:t>Works right inside your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30952"/>
            <a:ext cx="534924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45000"/>
            </a:srgbClr>
          </a:solidFill>
          <a:ln w="5080">
            <a:solidFill>
              <a:srgbClr val="B3C2E0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FF7A7A"/>
                </a:solidFill>
                <a:latin typeface="Open Sans"/>
              </a:rPr>
              <a:t>✕  </a:t>
            </a:r>
            <a:r>
              <a:rPr sz="1250" b="0" i="0">
                <a:solidFill>
                  <a:srgbClr val="B3C2E0"/>
                </a:solidFill>
                <a:latin typeface="Open Sans"/>
              </a:rPr>
              <a:t>Replies sound robotic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330952"/>
            <a:ext cx="507492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70000"/>
            </a:srgbClr>
          </a:solidFill>
          <a:ln w="10160">
            <a:solidFill>
              <a:srgbClr val="4466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22C55E"/>
                </a:solidFill>
                <a:latin typeface="Open Sans"/>
              </a:rPr>
              <a:t>✓  </a:t>
            </a:r>
            <a:r>
              <a:rPr sz="1250" b="1" i="0">
                <a:solidFill>
                  <a:srgbClr val="FFFFFF"/>
                </a:solidFill>
                <a:latin typeface="Open Sans"/>
              </a:rPr>
              <a:t>Sounds like your brand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71032"/>
            <a:ext cx="534924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45000"/>
            </a:srgbClr>
          </a:solidFill>
          <a:ln w="5080">
            <a:solidFill>
              <a:srgbClr val="B3C2E0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FF7A7A"/>
                </a:solidFill>
                <a:latin typeface="Open Sans"/>
              </a:rPr>
              <a:t>✕  </a:t>
            </a:r>
            <a:r>
              <a:rPr sz="1250" b="0" i="0">
                <a:solidFill>
                  <a:srgbClr val="B3C2E0"/>
                </a:solidFill>
                <a:latin typeface="Open Sans"/>
              </a:rPr>
              <a:t>Gets stuck when confused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5971032"/>
            <a:ext cx="5074920" cy="548640"/>
          </a:xfrm>
          <a:prstGeom prst="roundRect">
            <a:avLst>
              <a:gd name="adj" fmla="val 14000"/>
            </a:avLst>
          </a:prstGeom>
          <a:solidFill>
            <a:srgbClr val="080330">
              <a:alpha val="70000"/>
            </a:srgbClr>
          </a:solidFill>
          <a:ln w="10160">
            <a:solidFill>
              <a:srgbClr val="4466F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200" b="1" i="0">
                <a:solidFill>
                  <a:srgbClr val="22C55E"/>
                </a:solidFill>
                <a:latin typeface="Open Sans"/>
              </a:rPr>
              <a:t>✓  </a:t>
            </a:r>
            <a:r>
              <a:rPr sz="1250" b="1" i="0">
                <a:solidFill>
                  <a:srgbClr val="FFFFFF"/>
                </a:solidFill>
                <a:latin typeface="Open Sans"/>
              </a:rPr>
              <a:t>Hands off to your team smoothly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10 / 14</a:t>
            </a:r>
          </a:p>
        </p:txBody>
      </p:sp>
    </p:spTree>
  </p:cSld>
  <p:clrMapOvr>
    <a:masterClrMapping/>
  </p:clrMapOvr>
  <p:transition spd="med">
    <p:wipe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B3CCFF"/>
                </a:solidFill>
                <a:latin typeface="JetBrains Mono"/>
              </a:rPr>
              <a:t>08 · PROVEN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Sora"/>
              </a:rPr>
              <a:t>Numbers that turn conversations into </a:t>
            </a:r>
            <a:r>
              <a:rPr sz="3400" b="1" i="0">
                <a:solidFill>
                  <a:srgbClr val="7AA8FF"/>
                </a:solidFill>
                <a:latin typeface="Sora"/>
              </a:rPr>
              <a:t>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80330">
              <a:alpha val="70000"/>
            </a:srgbClr>
          </a:solidFill>
          <a:ln w="12700">
            <a:solidFill>
              <a:srgbClr val="4466FF">
                <a:alpha val="55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2606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7AA8FF"/>
                </a:solidFill>
                <a:latin typeface="Sora"/>
              </a:rPr>
              <a:t>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343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ora"/>
              </a:rPr>
              <a:t>Reply time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B3C2E0"/>
                </a:solidFill>
                <a:latin typeface="Open Sans"/>
              </a:rPr>
              <a:t>Customers get an answer almost the moment they 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743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80330">
              <a:alpha val="70000"/>
            </a:srgbClr>
          </a:solidFill>
          <a:ln w="12700">
            <a:solidFill>
              <a:srgbClr val="4466FF">
                <a:alpha val="55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154680"/>
            <a:ext cx="2606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7AA8FF"/>
                </a:solidFill>
                <a:latin typeface="Sor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43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ora"/>
              </a:rPr>
              <a:t>Languages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B3C2E0"/>
                </a:solidFill>
                <a:latin typeface="Open Sans"/>
              </a:rPr>
              <a:t>Arabic, English and Franco-Arabic, understood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43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80330">
              <a:alpha val="70000"/>
            </a:srgbClr>
          </a:solidFill>
          <a:ln w="12700">
            <a:solidFill>
              <a:srgbClr val="4466FF">
                <a:alpha val="55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154680"/>
            <a:ext cx="2606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7AA8FF"/>
                </a:solidFill>
                <a:latin typeface="Sora"/>
              </a:rP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343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ora"/>
              </a:rPr>
              <a:t>Always on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B3C2E0"/>
                </a:solidFill>
                <a:latin typeface="Open Sans"/>
              </a:rPr>
              <a:t>Never sleeps — your customers always hear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274320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080330">
              <a:alpha val="70000"/>
            </a:srgbClr>
          </a:solidFill>
          <a:ln w="12700">
            <a:solidFill>
              <a:srgbClr val="4466FF">
                <a:alpha val="55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154680"/>
            <a:ext cx="2606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>
                <a:solidFill>
                  <a:srgbClr val="7AA8FF"/>
                </a:solidFill>
                <a:latin typeface="Sor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4343400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ora"/>
              </a:rPr>
              <a:t>Channels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B3C2E0"/>
                </a:solidFill>
                <a:latin typeface="Open Sans"/>
              </a:rPr>
              <a:t>Instagram and website chat today, WhatsApp soon.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11 / 14</a:t>
            </a:r>
          </a:p>
        </p:txBody>
      </p:sp>
    </p:spTree>
  </p:cSld>
  <p:clrMapOvr>
    <a:masterClrMapping/>
  </p:clrMapOvr>
  <p:transition spd="med">
    <p:cover dir="u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4466FF"/>
                </a:solidFill>
                <a:latin typeface="JetBrains Mono"/>
              </a:rPr>
              <a:t>09 ·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A0A2E"/>
                </a:solidFill>
                <a:latin typeface="Sora"/>
              </a:rPr>
              <a:t>Plans that scale with your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56080"/>
                </a:solidFill>
                <a:latin typeface="Open Sans"/>
              </a:rPr>
              <a:t>Billed through Shopify · 7-day free trial on paid plans · card never touches LUMA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2670048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4466FF">
                <a:alpha val="18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603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A0A2E"/>
                </a:solidFill>
                <a:latin typeface="Sora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9008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A0A2E"/>
                </a:solidFill>
                <a:latin typeface="Sora"/>
              </a:rPr>
              <a:t>$0</a:t>
            </a:r>
            <a:r>
              <a:rPr sz="1400" b="0" i="0">
                <a:solidFill>
                  <a:srgbClr val="556080"/>
                </a:solidFill>
                <a:latin typeface="Open Sans"/>
              </a:rPr>
              <a:t>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70332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56080"/>
                </a:solidFill>
                <a:latin typeface="JetBrains Mono"/>
              </a:rPr>
              <a:t>20 chats /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Instagram + Shopify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544568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Order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928616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Smart pre-filtering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312664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20 knowledge 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194560"/>
            <a:ext cx="2670048" cy="4160520"/>
          </a:xfrm>
          <a:prstGeom prst="roundRect">
            <a:avLst>
              <a:gd name="adj" fmla="val 6000"/>
            </a:avLst>
          </a:prstGeom>
          <a:solidFill>
            <a:srgbClr val="4466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0248" y="194767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A0A2E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900" b="1" i="0" spc="150">
                <a:solidFill>
                  <a:srgbClr val="B3CCFF"/>
                </a:solidFill>
                <a:latin typeface="JetBrains Mono"/>
              </a:rPr>
              <a:t>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67004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ora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099816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ora"/>
              </a:rPr>
              <a:t>$29</a:t>
            </a:r>
            <a:r>
              <a:rPr sz="1400" b="0" i="0">
                <a:solidFill>
                  <a:srgbClr val="B3CCFF"/>
                </a:solidFill>
                <a:latin typeface="Open Sa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813048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3CCFF"/>
                </a:solidFill>
                <a:latin typeface="JetBrains Mono"/>
              </a:rPr>
              <a:t>200 chats /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270248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3CC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FFFFFF"/>
                </a:solidFill>
                <a:latin typeface="Open Sans"/>
              </a:rPr>
              <a:t>Everything in 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4654296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3CC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FFFFFF"/>
                </a:solidFill>
                <a:latin typeface="Open Sans"/>
              </a:rPr>
              <a:t>Custom auto-reply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5038344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3CC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FFFFFF"/>
                </a:solidFill>
                <a:latin typeface="Open Sans"/>
              </a:rPr>
              <a:t>100 knowledge entries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5422392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3CC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FFFFFF"/>
                </a:solidFill>
                <a:latin typeface="Open Sans"/>
              </a:rPr>
              <a:t>Advanced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7648" y="2331720"/>
            <a:ext cx="2670048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4466FF">
                <a:alpha val="18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5603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A0A2E"/>
                </a:solidFill>
                <a:latin typeface="Sora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99008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A0A2E"/>
                </a:solidFill>
                <a:latin typeface="Sora"/>
              </a:rPr>
              <a:t>$79</a:t>
            </a:r>
            <a:r>
              <a:rPr sz="1400" b="0" i="0">
                <a:solidFill>
                  <a:srgbClr val="556080"/>
                </a:solidFill>
                <a:latin typeface="Open Sans"/>
              </a:rPr>
              <a:t>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70332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56080"/>
                </a:solidFill>
                <a:latin typeface="JetBrains Mono"/>
              </a:rPr>
              <a:t>600 chats / 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16052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Everything in Starter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544568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Unlimited 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28616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Priority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5312664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Custom bot personality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88" y="2331720"/>
            <a:ext cx="2670048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4466FF">
                <a:alpha val="18000"/>
              </a:srgbClr>
            </a:solidFill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36608" y="256032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A0A2E"/>
                </a:solidFill>
                <a:latin typeface="Sora"/>
              </a:rPr>
              <a:t>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2990088"/>
            <a:ext cx="21214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0A0A2E"/>
                </a:solidFill>
                <a:latin typeface="Sora"/>
              </a:rPr>
              <a:t>$149</a:t>
            </a:r>
            <a:r>
              <a:rPr sz="1400" b="0" i="0">
                <a:solidFill>
                  <a:srgbClr val="556080"/>
                </a:solidFill>
                <a:latin typeface="Open Sans"/>
              </a:rPr>
              <a:t>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3703320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56080"/>
                </a:solidFill>
                <a:latin typeface="JetBrains Mono"/>
              </a:rPr>
              <a:t>1,500 chats / 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4160520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Everything in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544568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Hands-on onboarding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4928616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Direct Slack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608" y="5312664"/>
            <a:ext cx="21671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466FF"/>
                </a:solidFill>
                <a:latin typeface="Open Sans"/>
              </a:rPr>
              <a:t>✓  </a:t>
            </a:r>
            <a:r>
              <a:rPr sz="1100" b="0" i="0">
                <a:solidFill>
                  <a:srgbClr val="556080"/>
                </a:solidFill>
                <a:latin typeface="Open Sans"/>
              </a:rPr>
              <a:t>Early access features</a:t>
            </a:r>
          </a:p>
        </p:txBody>
      </p:sp>
      <p:sp>
        <p:nvSpPr>
          <p:cNvPr id="39" name="Rounded Rectangle 38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56080"/>
                </a:solidFill>
                <a:latin typeface="JetBrains Mono"/>
              </a:rPr>
              <a:t>12 / 14</a:t>
            </a:r>
          </a:p>
        </p:txBody>
      </p:sp>
    </p:spTree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60">
                <a:solidFill>
                  <a:srgbClr val="7AA8FF"/>
                </a:solidFill>
                <a:latin typeface="JetBrains Mono"/>
              </a:rPr>
              <a:t>10 · SECURITY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ora"/>
              </a:rPr>
              <a:t>Your data is </a:t>
            </a:r>
            <a:r>
              <a:rPr sz="3800" b="1" i="0">
                <a:solidFill>
                  <a:srgbClr val="7AA8FF"/>
                </a:solidFill>
                <a:latin typeface="Sora"/>
              </a:rPr>
              <a:t>protected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5349240" cy="1691640"/>
          </a:xfrm>
          <a:prstGeom prst="roundRect">
            <a:avLst>
              <a:gd name="adj" fmla="val 9000"/>
            </a:avLst>
          </a:prstGeom>
          <a:solidFill>
            <a:srgbClr val="080330">
              <a:alpha val="5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990088"/>
            <a:ext cx="182880" cy="182880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98648"/>
            <a:ext cx="4160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Your data stays yours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B3C2E0"/>
                </a:solidFill>
                <a:latin typeface="Open Sans"/>
              </a:rPr>
              <a:t>Every store’s information is kept completely separate and private.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606040"/>
            <a:ext cx="5349240" cy="1691640"/>
          </a:xfrm>
          <a:prstGeom prst="roundRect">
            <a:avLst>
              <a:gd name="adj" fmla="val 9000"/>
            </a:avLst>
          </a:prstGeom>
          <a:solidFill>
            <a:srgbClr val="080330">
              <a:alpha val="5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0840" y="2990088"/>
            <a:ext cx="182880" cy="182880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898648"/>
            <a:ext cx="4160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Safe and secure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B3C2E0"/>
                </a:solidFill>
                <a:latin typeface="Open Sans"/>
              </a:rPr>
              <a:t>Conversations are protected and access is tightly controlled.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349240" cy="1691640"/>
          </a:xfrm>
          <a:prstGeom prst="roundRect">
            <a:avLst>
              <a:gd name="adj" fmla="val 9000"/>
            </a:avLst>
          </a:prstGeom>
          <a:solidFill>
            <a:srgbClr val="080330">
              <a:alpha val="5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4956048"/>
            <a:ext cx="182880" cy="182880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864608"/>
            <a:ext cx="4160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Payments stay with your store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B3C2E0"/>
                </a:solidFill>
                <a:latin typeface="Open Sans"/>
              </a:rPr>
              <a:t>Billing runs through your store’s trusted, secure checkout.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4572000"/>
            <a:ext cx="5349240" cy="1691640"/>
          </a:xfrm>
          <a:prstGeom prst="roundRect">
            <a:avLst>
              <a:gd name="adj" fmla="val 9000"/>
            </a:avLst>
          </a:prstGeom>
          <a:solidFill>
            <a:srgbClr val="080330">
              <a:alpha val="55000"/>
            </a:srgbClr>
          </a:solidFill>
          <a:ln w="9525">
            <a:solidFill>
              <a:srgbClr val="4466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0840" y="4956048"/>
            <a:ext cx="182880" cy="182880"/>
          </a:xfrm>
          <a:prstGeom prst="ellipse">
            <a:avLst/>
          </a:prstGeom>
          <a:solidFill>
            <a:srgbClr val="7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4864608"/>
            <a:ext cx="4160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Sora"/>
              </a:rPr>
              <a:t>Privacy respected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B3C2E0"/>
                </a:solidFill>
                <a:latin typeface="Open Sans"/>
              </a:rPr>
              <a:t>Customer data-removal requests are handled automatically.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411480" y="6327648"/>
            <a:ext cx="10515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7AA8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50" b="1" i="0">
                <a:solidFill>
                  <a:srgbClr val="7AA8FF"/>
                </a:solidFill>
                <a:latin typeface="JetBrains Mono"/>
              </a:rPr>
              <a:t>‹ 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3C2E0"/>
                </a:solidFill>
                <a:latin typeface="JetBrains Mono"/>
              </a:rPr>
              <a:t>13 / 14</a:t>
            </a:r>
          </a:p>
        </p:txBody>
      </p:sp>
    </p:spTree>
  </p:cSld>
  <p:clrMapOvr>
    <a:masterClrMapping/>
  </p:clrMapOvr>
  <p:transition spd="med">
    <p:split orient="horz" dir="in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868680"/>
            <a:ext cx="142875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5740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4200" b="1" i="0">
                <a:solidFill>
                  <a:srgbClr val="FFFFFF"/>
                </a:solidFill>
                <a:latin typeface="Sora"/>
              </a:rPr>
              <a:t>Never lose a sale to silence again</a:t>
            </a:r>
          </a:p>
          <a:p>
            <a:pPr algn="ctr">
              <a:lnSpc>
                <a:spcPct val="110000"/>
              </a:lnSpc>
              <a:spcAft>
                <a:spcPts val="800"/>
              </a:spcAft>
            </a:pPr>
            <a:r>
              <a:rPr sz="2000" b="0" i="1">
                <a:solidFill>
                  <a:srgbClr val="FFFFFF"/>
                </a:solidFill>
                <a:latin typeface="Instrument Serif"/>
              </a:rPr>
              <a:t>Start free today — live in your store this afternoon.</a:t>
            </a:r>
          </a:p>
        </p:txBody>
      </p:sp>
      <p:sp>
        <p:nvSpPr>
          <p:cNvPr id="5" name="Rounded Rectangle 4">
            <a:hlinkClick r:id="rId4"/>
          </p:cNvPr>
          <p:cNvSpPr/>
          <p:nvPr/>
        </p:nvSpPr>
        <p:spPr>
          <a:xfrm>
            <a:off x="3520440" y="3886200"/>
            <a:ext cx="2468880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180000" dist="90000" dir="5400000" rotWithShape="0">
              <a:srgbClr val="1A1A6E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500" b="1" i="0">
                <a:solidFill>
                  <a:srgbClr val="4466FF"/>
                </a:solidFill>
                <a:latin typeface="Sora"/>
              </a:rPr>
              <a:t>Request access  →</a:t>
            </a:r>
          </a:p>
        </p:txBody>
      </p:sp>
      <p:sp>
        <p:nvSpPr>
          <p:cNvPr id="6" name="Rounded Rectangle 5">
            <a:hlinkClick r:id="rId5"/>
          </p:cNvPr>
          <p:cNvSpPr/>
          <p:nvPr/>
        </p:nvSpPr>
        <p:spPr>
          <a:xfrm>
            <a:off x="6199632" y="3886200"/>
            <a:ext cx="2468880" cy="65836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500" b="1" i="0">
                <a:solidFill>
                  <a:srgbClr val="FFFFFF"/>
                </a:solidFill>
                <a:latin typeface="Sora"/>
              </a:rPr>
              <a:t>Email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JetBrains Mono"/>
              </a:rPr>
              <a:t>luma-bot.com</a:t>
            </a:r>
            <a:r>
              <a:rPr sz="1500" b="0" i="0">
                <a:solidFill>
                  <a:srgbClr val="B3CCFF"/>
                </a:solidFill>
                <a:latin typeface="JetBrains Mono"/>
              </a:rPr>
              <a:t>     ·     </a:t>
            </a:r>
            <a:r>
              <a:rPr sz="1500" b="1" i="0">
                <a:solidFill>
                  <a:srgbClr val="FFFFFF"/>
                </a:solidFill>
                <a:latin typeface="JetBrains Mono"/>
              </a:rPr>
              <a:t>hello@luma-bot.com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 spc="150">
                <a:solidFill>
                  <a:srgbClr val="B3CCFF"/>
                </a:solidFill>
                <a:latin typeface="JetBrains Mono"/>
              </a:rPr>
              <a:t>Now welcoming a limited number of local businesses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358384" y="6172200"/>
            <a:ext cx="146304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JetBrains Mono"/>
              </a:rPr>
              <a:t>Back to menu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